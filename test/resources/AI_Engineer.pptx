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7" r:id="rId2"/>
    <p:sldMasterId id="2147483674" r:id="rId3"/>
    <p:sldMasterId id="2147483685" r:id="rId4"/>
  </p:sldMasterIdLst>
  <p:notesMasterIdLst>
    <p:notesMasterId r:id="rId6"/>
  </p:notesMasterIdLst>
  <p:sldIdLst>
    <p:sldId id="526" r:id="rId5"/>
  </p:sldIdLst>
  <p:sldSz cx="9906000" cy="6858000" type="A4"/>
  <p:notesSz cx="6807200" cy="9939338"/>
  <p:embeddedFontLst>
    <p:embeddedFont>
      <p:font typeface="Malgun Gothic" panose="020B0503020000020004" pitchFamily="34" charset="-127"/>
      <p:regular r:id="rId7"/>
      <p:bold r:id="rId8"/>
    </p:embeddedFont>
    <p:embeddedFont>
      <p:font typeface="KoPubWorld돋움체 Light" pitchFamily="2" charset="-127"/>
      <p:regular r:id="rId9"/>
    </p:embeddedFont>
    <p:embeddedFont>
      <p:font typeface="Quattrocento Sans" panose="020B0502050000020003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978">
          <p15:clr>
            <a:srgbClr val="A4A3A4"/>
          </p15:clr>
        </p15:guide>
        <p15:guide id="2" pos="262">
          <p15:clr>
            <a:srgbClr val="A4A3A4"/>
          </p15:clr>
        </p15:guide>
        <p15:guide id="3" orient="horz" pos="3997">
          <p15:clr>
            <a:srgbClr val="A4A3A4"/>
          </p15:clr>
        </p15:guide>
        <p15:guide id="4" orient="horz" pos="1003">
          <p15:clr>
            <a:srgbClr val="A4A3A4"/>
          </p15:clr>
        </p15:guide>
        <p15:guide id="5" orient="horz" pos="1185">
          <p15:clr>
            <a:srgbClr val="A4A3A4"/>
          </p15:clr>
        </p15:guide>
        <p15:guide id="6" orient="horz" pos="3861">
          <p15:clr>
            <a:srgbClr val="A4A3A4"/>
          </p15:clr>
        </p15:guide>
        <p15:guide id="7" pos="3982">
          <p15:clr>
            <a:srgbClr val="A4A3A4"/>
          </p15:clr>
        </p15:guide>
        <p15:guide id="8" orient="horz" pos="1344">
          <p15:clr>
            <a:srgbClr val="A4A3A4"/>
          </p15:clr>
        </p15:guide>
        <p15:guide id="9" orient="horz" pos="3770">
          <p15:clr>
            <a:srgbClr val="A4A3A4"/>
          </p15:clr>
        </p15:guide>
        <p15:guide id="10" orient="horz" pos="3680">
          <p15:clr>
            <a:srgbClr val="A4A3A4"/>
          </p15:clr>
        </p15:guide>
        <p15:guide id="11" pos="829">
          <p15:clr>
            <a:srgbClr val="A4A3A4"/>
          </p15:clr>
        </p15:guide>
        <p15:guide id="12" orient="horz" pos="709">
          <p15:clr>
            <a:srgbClr val="A4A3A4"/>
          </p15:clr>
        </p15:guide>
        <p15:guide id="13" orient="horz" pos="890">
          <p15:clr>
            <a:srgbClr val="A4A3A4"/>
          </p15:clr>
        </p15:guide>
        <p15:guide id="14" orient="horz" pos="10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4" roundtripDataSignature="AMtx7mhfpqqvCgopWA1l9dFg2NRu8Mjd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F23A7D-E2E4-4425-A42A-93AF6216BE30}">
  <a:tblStyle styleId="{8CF23A7D-E2E4-4425-A42A-93AF6216BE30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C678D28-3A96-469A-945D-981AAE95CC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3A8820E-539F-48E2-9B63-F00F0F7017AB}" styleName="Table_2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81"/>
  </p:normalViewPr>
  <p:slideViewPr>
    <p:cSldViewPr snapToGrid="0">
      <p:cViewPr>
        <p:scale>
          <a:sx n="143" d="100"/>
          <a:sy n="143" d="100"/>
        </p:scale>
        <p:origin x="488" y="152"/>
      </p:cViewPr>
      <p:guideLst>
        <p:guide pos="5978"/>
        <p:guide pos="262"/>
        <p:guide orient="horz" pos="3997"/>
        <p:guide orient="horz" pos="1003"/>
        <p:guide orient="horz" pos="1185"/>
        <p:guide orient="horz" pos="3861"/>
        <p:guide pos="3982"/>
        <p:guide orient="horz" pos="1344"/>
        <p:guide orient="horz" pos="3770"/>
        <p:guide orient="horz" pos="3680"/>
        <p:guide pos="829"/>
        <p:guide orient="horz" pos="709"/>
        <p:guide orient="horz" pos="890"/>
        <p:guide orient="horz" pos="104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146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144" Type="http://customschemas.google.com/relationships/presentationmetadata" Target="metadata"/><Relationship Id="rId5" Type="http://schemas.openxmlformats.org/officeDocument/2006/relationships/slide" Target="slides/slide1.xml"/><Relationship Id="rId10" Type="http://schemas.openxmlformats.org/officeDocument/2006/relationships/font" Target="fonts/font4.fntdata"/><Relationship Id="rId14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font" Target="fonts/font3.fntdata"/><Relationship Id="rId14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2"/>
            <a:ext cx="2949786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75" tIns="47825" rIns="95675" bIns="478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40" y="2"/>
            <a:ext cx="2949786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75" tIns="47825" rIns="95675" bIns="478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2788" y="746125"/>
            <a:ext cx="5381625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75" tIns="47825" rIns="95675" bIns="478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440648"/>
            <a:ext cx="2949786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75" tIns="47825" rIns="95675" bIns="478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40" y="9440648"/>
            <a:ext cx="2949786" cy="49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675" tIns="47825" rIns="95675" bIns="478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1">
          <a:extLst>
            <a:ext uri="{FF2B5EF4-FFF2-40B4-BE49-F238E27FC236}">
              <a16:creationId xmlns:a16="http://schemas.microsoft.com/office/drawing/2014/main" id="{9E7C561D-EEED-D130-6D8A-0F9D1D46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2" name="Google Shape;9002;p121:notes">
            <a:extLst>
              <a:ext uri="{FF2B5EF4-FFF2-40B4-BE49-F238E27FC236}">
                <a16:creationId xmlns:a16="http://schemas.microsoft.com/office/drawing/2014/main" id="{2DDEE8B1-1F1F-C3F8-D0CC-5F2BC5F96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spcFirstLastPara="1" wrap="square" lIns="95675" tIns="47825" rIns="95675" bIns="47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3" name="Google Shape;9003;p121:notes">
            <a:extLst>
              <a:ext uri="{FF2B5EF4-FFF2-40B4-BE49-F238E27FC236}">
                <a16:creationId xmlns:a16="http://schemas.microsoft.com/office/drawing/2014/main" id="{DA82E419-95DE-0F36-D040-6AD7095B1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8100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III장">
  <p:cSld name="1_본문 III장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7"/>
          <p:cNvSpPr txBox="1"/>
          <p:nvPr/>
        </p:nvSpPr>
        <p:spPr>
          <a:xfrm>
            <a:off x="6439152" y="6547872"/>
            <a:ext cx="30164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Copyright 2026. Samsung SDS Co., Ltd. All rights reserved.  |  Confidential </a:t>
            </a:r>
            <a:endParaRPr/>
          </a:p>
        </p:txBody>
      </p:sp>
      <p:sp>
        <p:nvSpPr>
          <p:cNvPr id="57" name="Google Shape;57;p127"/>
          <p:cNvSpPr/>
          <p:nvPr/>
        </p:nvSpPr>
        <p:spPr>
          <a:xfrm>
            <a:off x="1109890" y="6601857"/>
            <a:ext cx="1808187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7488" marR="0" lvl="0" indent="-21748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5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|  모니모 생성형 AI Agent 구축 프로젝트</a:t>
            </a:r>
            <a:endParaRPr/>
          </a:p>
        </p:txBody>
      </p:sp>
      <p:pic>
        <p:nvPicPr>
          <p:cNvPr id="58" name="Google Shape;58;p127"/>
          <p:cNvPicPr preferRelativeResize="0"/>
          <p:nvPr/>
        </p:nvPicPr>
        <p:blipFill rotWithShape="1">
          <a:blip r:embed="rId2">
            <a:alphaModFix/>
          </a:blip>
          <a:srcRect l="45812" t="34987" r="24017" b="33951"/>
          <a:stretch/>
        </p:blipFill>
        <p:spPr>
          <a:xfrm>
            <a:off x="415875" y="6595755"/>
            <a:ext cx="673680" cy="11450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7"/>
          <p:cNvSpPr txBox="1"/>
          <p:nvPr/>
        </p:nvSpPr>
        <p:spPr>
          <a:xfrm>
            <a:off x="9494222" y="172412"/>
            <a:ext cx="1506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0F5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</a:t>
            </a:r>
            <a:endParaRPr/>
          </a:p>
        </p:txBody>
      </p:sp>
      <p:sp>
        <p:nvSpPr>
          <p:cNvPr id="60" name="Google Shape;60;p127"/>
          <p:cNvSpPr txBox="1"/>
          <p:nvPr/>
        </p:nvSpPr>
        <p:spPr>
          <a:xfrm>
            <a:off x="8301373" y="226825"/>
            <a:ext cx="105063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 수행계획</a:t>
            </a:r>
            <a:endParaRPr/>
          </a:p>
        </p:txBody>
      </p:sp>
      <p:cxnSp>
        <p:nvCxnSpPr>
          <p:cNvPr id="61" name="Google Shape;61;p127"/>
          <p:cNvCxnSpPr/>
          <p:nvPr/>
        </p:nvCxnSpPr>
        <p:spPr>
          <a:xfrm>
            <a:off x="9428143" y="0"/>
            <a:ext cx="0" cy="371987"/>
          </a:xfrm>
          <a:prstGeom prst="straightConnector1">
            <a:avLst/>
          </a:prstGeom>
          <a:noFill/>
          <a:ln w="9525" cap="rnd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2" name="Google Shape;62;p127"/>
          <p:cNvGrpSpPr/>
          <p:nvPr/>
        </p:nvGrpSpPr>
        <p:grpSpPr>
          <a:xfrm>
            <a:off x="9043716" y="139190"/>
            <a:ext cx="358857" cy="50158"/>
            <a:chOff x="9153224" y="140927"/>
            <a:chExt cx="315248" cy="50158"/>
          </a:xfrm>
        </p:grpSpPr>
        <p:sp>
          <p:nvSpPr>
            <p:cNvPr id="63" name="Google Shape;63;p127"/>
            <p:cNvSpPr/>
            <p:nvPr/>
          </p:nvSpPr>
          <p:spPr>
            <a:xfrm>
              <a:off x="9153224" y="140927"/>
              <a:ext cx="50158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27"/>
            <p:cNvSpPr/>
            <p:nvPr/>
          </p:nvSpPr>
          <p:spPr>
            <a:xfrm>
              <a:off x="9250446" y="140927"/>
              <a:ext cx="50158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27"/>
            <p:cNvSpPr/>
            <p:nvPr/>
          </p:nvSpPr>
          <p:spPr>
            <a:xfrm>
              <a:off x="9418314" y="140927"/>
              <a:ext cx="50158" cy="50158"/>
            </a:xfrm>
            <a:prstGeom prst="ellipse">
              <a:avLst/>
            </a:prstGeom>
            <a:solidFill>
              <a:srgbClr val="0F56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27"/>
          <p:cNvSpPr txBox="1"/>
          <p:nvPr/>
        </p:nvSpPr>
        <p:spPr>
          <a:xfrm>
            <a:off x="4530530" y="6545515"/>
            <a:ext cx="841570" cy="1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/ 58</a:t>
            </a:r>
            <a:endParaRPr sz="900" b="0">
              <a:solidFill>
                <a:srgbClr val="7878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27"/>
          <p:cNvSpPr/>
          <p:nvPr/>
        </p:nvSpPr>
        <p:spPr>
          <a:xfrm>
            <a:off x="9252387" y="139190"/>
            <a:ext cx="57097" cy="50158"/>
          </a:xfrm>
          <a:prstGeom prst="ellipse">
            <a:avLst/>
          </a:prstGeom>
          <a:solidFill>
            <a:srgbClr val="BFBFB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0"/>
          <p:cNvSpPr/>
          <p:nvPr/>
        </p:nvSpPr>
        <p:spPr>
          <a:xfrm>
            <a:off x="0" y="0"/>
            <a:ext cx="9906000" cy="52831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130"/>
          <p:cNvSpPr/>
          <p:nvPr/>
        </p:nvSpPr>
        <p:spPr>
          <a:xfrm rot="5400000">
            <a:off x="4849813" y="1973262"/>
            <a:ext cx="206375" cy="6826249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0"/>
          <p:cNvSpPr txBox="1"/>
          <p:nvPr/>
        </p:nvSpPr>
        <p:spPr>
          <a:xfrm>
            <a:off x="4262907" y="5317138"/>
            <a:ext cx="138018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사업 명 또는 프로젝트 명 기입</a:t>
            </a:r>
            <a:endParaRPr/>
          </a:p>
        </p:txBody>
      </p:sp>
      <p:sp>
        <p:nvSpPr>
          <p:cNvPr id="95" name="Google Shape;95;p130"/>
          <p:cNvSpPr/>
          <p:nvPr/>
        </p:nvSpPr>
        <p:spPr>
          <a:xfrm rot="5400000">
            <a:off x="3835401" y="752475"/>
            <a:ext cx="2235199" cy="68262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130"/>
          <p:cNvSpPr/>
          <p:nvPr/>
        </p:nvSpPr>
        <p:spPr>
          <a:xfrm rot="5400000">
            <a:off x="4939909" y="-1178815"/>
            <a:ext cx="26182" cy="6826249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0"/>
          <p:cNvSpPr/>
          <p:nvPr/>
        </p:nvSpPr>
        <p:spPr>
          <a:xfrm rot="5400000">
            <a:off x="4939909" y="1748309"/>
            <a:ext cx="26182" cy="97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103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장">
  <p:cSld name="1_1장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2"/>
          <p:cNvSpPr/>
          <p:nvPr/>
        </p:nvSpPr>
        <p:spPr>
          <a:xfrm>
            <a:off x="4815142" y="6582969"/>
            <a:ext cx="27571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132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116" name="Google Shape;116;p132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32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118" name="Google Shape;118;p132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32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120" name="Google Shape;120;p132"/>
          <p:cNvGrpSpPr/>
          <p:nvPr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121" name="Google Shape;121;p132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" name="Google Shape;122;p132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123" name="Google Shape;123;p132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4" name="Google Shape;124;p132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25" name="Google Shape;125;p132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32"/>
          <p:cNvGrpSpPr/>
          <p:nvPr/>
        </p:nvGrpSpPr>
        <p:grpSpPr>
          <a:xfrm>
            <a:off x="9002701" y="0"/>
            <a:ext cx="584307" cy="293168"/>
            <a:chOff x="9002701" y="0"/>
            <a:chExt cx="584307" cy="293168"/>
          </a:xfrm>
        </p:grpSpPr>
        <p:sp>
          <p:nvSpPr>
            <p:cNvPr id="127" name="Google Shape;127;p132"/>
            <p:cNvSpPr txBox="1"/>
            <p:nvPr/>
          </p:nvSpPr>
          <p:spPr>
            <a:xfrm>
              <a:off x="9548536" y="108502"/>
              <a:ext cx="384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128" name="Google Shape;128;p132"/>
            <p:cNvGrpSpPr/>
            <p:nvPr/>
          </p:nvGrpSpPr>
          <p:grpSpPr>
            <a:xfrm>
              <a:off x="9002701" y="0"/>
              <a:ext cx="488099" cy="272733"/>
              <a:chOff x="8965745" y="0"/>
              <a:chExt cx="488099" cy="272733"/>
            </a:xfrm>
          </p:grpSpPr>
          <p:sp>
            <p:nvSpPr>
              <p:cNvPr id="129" name="Google Shape;129;p132"/>
              <p:cNvSpPr txBox="1"/>
              <p:nvPr/>
            </p:nvSpPr>
            <p:spPr>
              <a:xfrm>
                <a:off x="8965745" y="131586"/>
                <a:ext cx="437620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제안 개요</a:t>
                </a:r>
                <a:endParaRPr sz="900" b="0">
                  <a:solidFill>
                    <a:srgbClr val="A0A5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0" name="Google Shape;130;p132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장_리딩無">
  <p:cSld name="1장_리딩無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3"/>
          <p:cNvSpPr/>
          <p:nvPr/>
        </p:nvSpPr>
        <p:spPr>
          <a:xfrm>
            <a:off x="4815142" y="6582969"/>
            <a:ext cx="27571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133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134" name="Google Shape;134;p133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33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136" name="Google Shape;136;p133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33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138" name="Google Shape;138;p133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139" name="Google Shape;139;p133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140" name="Google Shape;140;p133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1" name="Google Shape;141;p133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42" name="Google Shape;142;p133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33"/>
          <p:cNvGrpSpPr/>
          <p:nvPr/>
        </p:nvGrpSpPr>
        <p:grpSpPr>
          <a:xfrm>
            <a:off x="9002701" y="0"/>
            <a:ext cx="584307" cy="293168"/>
            <a:chOff x="9002701" y="0"/>
            <a:chExt cx="584307" cy="293168"/>
          </a:xfrm>
        </p:grpSpPr>
        <p:sp>
          <p:nvSpPr>
            <p:cNvPr id="144" name="Google Shape;144;p133"/>
            <p:cNvSpPr txBox="1"/>
            <p:nvPr/>
          </p:nvSpPr>
          <p:spPr>
            <a:xfrm>
              <a:off x="9548536" y="108502"/>
              <a:ext cx="384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145" name="Google Shape;145;p133"/>
            <p:cNvGrpSpPr/>
            <p:nvPr/>
          </p:nvGrpSpPr>
          <p:grpSpPr>
            <a:xfrm>
              <a:off x="9002701" y="0"/>
              <a:ext cx="488099" cy="272733"/>
              <a:chOff x="8965745" y="0"/>
              <a:chExt cx="488099" cy="272733"/>
            </a:xfrm>
          </p:grpSpPr>
          <p:sp>
            <p:nvSpPr>
              <p:cNvPr id="146" name="Google Shape;146;p133"/>
              <p:cNvSpPr txBox="1"/>
              <p:nvPr/>
            </p:nvSpPr>
            <p:spPr>
              <a:xfrm>
                <a:off x="8965745" y="131586"/>
                <a:ext cx="437620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제안 개요</a:t>
                </a:r>
                <a:endParaRPr sz="900" b="0">
                  <a:solidFill>
                    <a:srgbClr val="A0A5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7" name="Google Shape;147;p133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장">
  <p:cSld name="2장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4"/>
          <p:cNvSpPr/>
          <p:nvPr/>
        </p:nvSpPr>
        <p:spPr>
          <a:xfrm>
            <a:off x="4800715" y="6582969"/>
            <a:ext cx="3045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134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151" name="Google Shape;151;p134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34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153" name="Google Shape;153;p134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34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155" name="Google Shape;155;p134"/>
          <p:cNvGrpSpPr/>
          <p:nvPr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156" name="Google Shape;156;p134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7" name="Google Shape;157;p134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158" name="Google Shape;158;p134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59" name="Google Shape;159;p134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60" name="Google Shape;160;p134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34"/>
          <p:cNvGrpSpPr/>
          <p:nvPr/>
        </p:nvGrpSpPr>
        <p:grpSpPr>
          <a:xfrm>
            <a:off x="8800722" y="0"/>
            <a:ext cx="824758" cy="293168"/>
            <a:chOff x="8800722" y="0"/>
            <a:chExt cx="824758" cy="293168"/>
          </a:xfrm>
        </p:grpSpPr>
        <p:sp>
          <p:nvSpPr>
            <p:cNvPr id="162" name="Google Shape;162;p134"/>
            <p:cNvSpPr txBox="1"/>
            <p:nvPr/>
          </p:nvSpPr>
          <p:spPr>
            <a:xfrm>
              <a:off x="9548536" y="108502"/>
              <a:ext cx="769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II</a:t>
              </a:r>
              <a:endParaRPr/>
            </a:p>
          </p:txBody>
        </p:sp>
        <p:grpSp>
          <p:nvGrpSpPr>
            <p:cNvPr id="163" name="Google Shape;163;p134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164" name="Google Shape;164;p134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제안업체 일반</a:t>
                </a:r>
                <a:endParaRPr/>
              </a:p>
            </p:txBody>
          </p:sp>
          <p:cxnSp>
            <p:nvCxnSpPr>
              <p:cNvPr id="165" name="Google Shape;165;p134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장_리딩無">
  <p:cSld name="2장_리딩無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5"/>
          <p:cNvSpPr/>
          <p:nvPr/>
        </p:nvSpPr>
        <p:spPr>
          <a:xfrm>
            <a:off x="4800715" y="6582969"/>
            <a:ext cx="30457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135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169" name="Google Shape;169;p135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35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171" name="Google Shape;171;p135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35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173" name="Google Shape;173;p135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174" name="Google Shape;174;p135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175" name="Google Shape;175;p135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76" name="Google Shape;176;p135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77" name="Google Shape;177;p135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135"/>
          <p:cNvGrpSpPr/>
          <p:nvPr/>
        </p:nvGrpSpPr>
        <p:grpSpPr>
          <a:xfrm>
            <a:off x="8800722" y="0"/>
            <a:ext cx="824758" cy="293168"/>
            <a:chOff x="8800722" y="0"/>
            <a:chExt cx="824758" cy="293168"/>
          </a:xfrm>
        </p:grpSpPr>
        <p:sp>
          <p:nvSpPr>
            <p:cNvPr id="179" name="Google Shape;179;p135"/>
            <p:cNvSpPr txBox="1"/>
            <p:nvPr/>
          </p:nvSpPr>
          <p:spPr>
            <a:xfrm>
              <a:off x="9548536" y="108502"/>
              <a:ext cx="76944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II</a:t>
              </a:r>
              <a:endParaRPr/>
            </a:p>
          </p:txBody>
        </p:sp>
        <p:grpSp>
          <p:nvGrpSpPr>
            <p:cNvPr id="180" name="Google Shape;180;p135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181" name="Google Shape;181;p135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제안업체 일반</a:t>
                </a:r>
                <a:endParaRPr/>
              </a:p>
            </p:txBody>
          </p:sp>
          <p:cxnSp>
            <p:nvCxnSpPr>
              <p:cNvPr id="182" name="Google Shape;182;p135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장">
  <p:cSld name="3장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6"/>
          <p:cNvSpPr/>
          <p:nvPr/>
        </p:nvSpPr>
        <p:spPr>
          <a:xfrm>
            <a:off x="4786288" y="6582969"/>
            <a:ext cx="33342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III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136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186" name="Google Shape;186;p136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36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188" name="Google Shape;188;p136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36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190" name="Google Shape;190;p136"/>
          <p:cNvGrpSpPr/>
          <p:nvPr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191" name="Google Shape;191;p136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136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193" name="Google Shape;193;p136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94" name="Google Shape;194;p136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195" name="Google Shape;195;p136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136"/>
          <p:cNvGrpSpPr/>
          <p:nvPr/>
        </p:nvGrpSpPr>
        <p:grpSpPr>
          <a:xfrm>
            <a:off x="8800722" y="0"/>
            <a:ext cx="863230" cy="293168"/>
            <a:chOff x="8800722" y="0"/>
            <a:chExt cx="863230" cy="293168"/>
          </a:xfrm>
        </p:grpSpPr>
        <p:sp>
          <p:nvSpPr>
            <p:cNvPr id="197" name="Google Shape;197;p136"/>
            <p:cNvSpPr txBox="1"/>
            <p:nvPr/>
          </p:nvSpPr>
          <p:spPr>
            <a:xfrm>
              <a:off x="9548536" y="108502"/>
              <a:ext cx="11541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III</a:t>
              </a:r>
              <a:endParaRPr/>
            </a:p>
          </p:txBody>
        </p:sp>
        <p:grpSp>
          <p:nvGrpSpPr>
            <p:cNvPr id="198" name="Google Shape;198;p136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199" name="Google Shape;199;p136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사업수행 방안</a:t>
                </a:r>
                <a:endParaRPr/>
              </a:p>
            </p:txBody>
          </p:sp>
          <p:cxnSp>
            <p:nvCxnSpPr>
              <p:cNvPr id="200" name="Google Shape;200;p136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장_리딩無">
  <p:cSld name="3장_리딩無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7"/>
          <p:cNvSpPr/>
          <p:nvPr/>
        </p:nvSpPr>
        <p:spPr>
          <a:xfrm>
            <a:off x="4786288" y="6582969"/>
            <a:ext cx="33342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III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37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204" name="Google Shape;204;p137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37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206" name="Google Shape;206;p137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37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208" name="Google Shape;208;p137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209" name="Google Shape;209;p137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210" name="Google Shape;210;p137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11" name="Google Shape;211;p137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12" name="Google Shape;212;p137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137"/>
          <p:cNvGrpSpPr/>
          <p:nvPr/>
        </p:nvGrpSpPr>
        <p:grpSpPr>
          <a:xfrm>
            <a:off x="8800722" y="0"/>
            <a:ext cx="863230" cy="293168"/>
            <a:chOff x="8800722" y="0"/>
            <a:chExt cx="863230" cy="293168"/>
          </a:xfrm>
        </p:grpSpPr>
        <p:sp>
          <p:nvSpPr>
            <p:cNvPr id="214" name="Google Shape;214;p137"/>
            <p:cNvSpPr txBox="1"/>
            <p:nvPr/>
          </p:nvSpPr>
          <p:spPr>
            <a:xfrm>
              <a:off x="9548536" y="108502"/>
              <a:ext cx="11541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III</a:t>
              </a:r>
              <a:endParaRPr/>
            </a:p>
          </p:txBody>
        </p:sp>
        <p:grpSp>
          <p:nvGrpSpPr>
            <p:cNvPr id="215" name="Google Shape;215;p137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216" name="Google Shape;216;p137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사업수행 방안</a:t>
                </a:r>
                <a:endParaRPr/>
              </a:p>
            </p:txBody>
          </p:sp>
          <p:cxnSp>
            <p:nvCxnSpPr>
              <p:cNvPr id="217" name="Google Shape;217;p137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장">
  <p:cSld name="4장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8"/>
          <p:cNvSpPr/>
          <p:nvPr/>
        </p:nvSpPr>
        <p:spPr>
          <a:xfrm>
            <a:off x="4783082" y="6582969"/>
            <a:ext cx="33983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IV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" name="Google Shape;220;p138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221" name="Google Shape;221;p138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38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223" name="Google Shape;223;p138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38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225" name="Google Shape;225;p138"/>
          <p:cNvGrpSpPr/>
          <p:nvPr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26" name="Google Shape;226;p138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" name="Google Shape;227;p138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228" name="Google Shape;228;p138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29" name="Google Shape;229;p138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30" name="Google Shape;230;p138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138"/>
          <p:cNvGrpSpPr/>
          <p:nvPr/>
        </p:nvGrpSpPr>
        <p:grpSpPr>
          <a:xfrm>
            <a:off x="8800722" y="0"/>
            <a:ext cx="884070" cy="293168"/>
            <a:chOff x="8800722" y="0"/>
            <a:chExt cx="884070" cy="293168"/>
          </a:xfrm>
        </p:grpSpPr>
        <p:sp>
          <p:nvSpPr>
            <p:cNvPr id="232" name="Google Shape;232;p138"/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IV</a:t>
              </a:r>
              <a:endParaRPr/>
            </a:p>
          </p:txBody>
        </p:sp>
        <p:grpSp>
          <p:nvGrpSpPr>
            <p:cNvPr id="233" name="Google Shape;233;p138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234" name="Google Shape;234;p138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프로젝트 관리</a:t>
                </a:r>
                <a:endParaRPr/>
              </a:p>
            </p:txBody>
          </p:sp>
          <p:cxnSp>
            <p:nvCxnSpPr>
              <p:cNvPr id="235" name="Google Shape;235;p138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장_리딩無">
  <p:cSld name="4장_리딩無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9"/>
          <p:cNvSpPr/>
          <p:nvPr/>
        </p:nvSpPr>
        <p:spPr>
          <a:xfrm>
            <a:off x="4783082" y="6582969"/>
            <a:ext cx="33983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IV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139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239" name="Google Shape;239;p139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39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241" name="Google Shape;241;p139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39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243" name="Google Shape;243;p139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244" name="Google Shape;244;p139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245" name="Google Shape;245;p139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46" name="Google Shape;246;p139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47" name="Google Shape;247;p139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p139"/>
          <p:cNvGrpSpPr/>
          <p:nvPr/>
        </p:nvGrpSpPr>
        <p:grpSpPr>
          <a:xfrm>
            <a:off x="8800722" y="0"/>
            <a:ext cx="884070" cy="293168"/>
            <a:chOff x="8800722" y="0"/>
            <a:chExt cx="884070" cy="293168"/>
          </a:xfrm>
        </p:grpSpPr>
        <p:sp>
          <p:nvSpPr>
            <p:cNvPr id="249" name="Google Shape;249;p139"/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IV</a:t>
              </a:r>
              <a:endParaRPr/>
            </a:p>
          </p:txBody>
        </p:sp>
        <p:grpSp>
          <p:nvGrpSpPr>
            <p:cNvPr id="250" name="Google Shape;250;p139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251" name="Google Shape;251;p139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프로젝트 관리</a:t>
                </a:r>
                <a:endParaRPr/>
              </a:p>
            </p:txBody>
          </p:sp>
          <p:cxnSp>
            <p:nvCxnSpPr>
              <p:cNvPr id="252" name="Google Shape;252;p139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장">
  <p:cSld name="5장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0"/>
          <p:cNvSpPr/>
          <p:nvPr/>
        </p:nvSpPr>
        <p:spPr>
          <a:xfrm>
            <a:off x="4797509" y="6582969"/>
            <a:ext cx="31098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40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256" name="Google Shape;256;p140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40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258" name="Google Shape;258;p140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40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260" name="Google Shape;260;p140"/>
          <p:cNvGrpSpPr/>
          <p:nvPr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61" name="Google Shape;261;p140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" name="Google Shape;262;p140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263" name="Google Shape;263;p140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4" name="Google Shape;264;p140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65" name="Google Shape;265;p140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" name="Google Shape;266;p140"/>
          <p:cNvGrpSpPr/>
          <p:nvPr/>
        </p:nvGrpSpPr>
        <p:grpSpPr>
          <a:xfrm>
            <a:off x="8800722" y="0"/>
            <a:ext cx="845598" cy="293168"/>
            <a:chOff x="8800722" y="0"/>
            <a:chExt cx="845598" cy="293168"/>
          </a:xfrm>
        </p:grpSpPr>
        <p:sp>
          <p:nvSpPr>
            <p:cNvPr id="267" name="Google Shape;267;p140"/>
            <p:cNvSpPr txBox="1"/>
            <p:nvPr/>
          </p:nvSpPr>
          <p:spPr>
            <a:xfrm>
              <a:off x="9548536" y="108502"/>
              <a:ext cx="97784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endParaRPr/>
            </a:p>
          </p:txBody>
        </p:sp>
        <p:grpSp>
          <p:nvGrpSpPr>
            <p:cNvPr id="268" name="Google Shape;268;p140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269" name="Google Shape;269;p140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프로젝트 지원</a:t>
                </a:r>
                <a:endParaRPr/>
              </a:p>
            </p:txBody>
          </p:sp>
          <p:cxnSp>
            <p:nvCxnSpPr>
              <p:cNvPr id="270" name="Google Shape;270;p140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장_리딩無">
  <p:cSld name="5장_리딩無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1"/>
          <p:cNvSpPr/>
          <p:nvPr/>
        </p:nvSpPr>
        <p:spPr>
          <a:xfrm>
            <a:off x="4797509" y="6582969"/>
            <a:ext cx="310983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" name="Google Shape;273;p141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274" name="Google Shape;274;p141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41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276" name="Google Shape;276;p141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41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278" name="Google Shape;278;p141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279" name="Google Shape;279;p141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280" name="Google Shape;280;p141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1" name="Google Shape;281;p141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82" name="Google Shape;282;p141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141"/>
          <p:cNvGrpSpPr/>
          <p:nvPr/>
        </p:nvGrpSpPr>
        <p:grpSpPr>
          <a:xfrm>
            <a:off x="8800722" y="0"/>
            <a:ext cx="845598" cy="293168"/>
            <a:chOff x="8800722" y="0"/>
            <a:chExt cx="845598" cy="293168"/>
          </a:xfrm>
        </p:grpSpPr>
        <p:sp>
          <p:nvSpPr>
            <p:cNvPr id="284" name="Google Shape;284;p141"/>
            <p:cNvSpPr txBox="1"/>
            <p:nvPr/>
          </p:nvSpPr>
          <p:spPr>
            <a:xfrm>
              <a:off x="9548536" y="108502"/>
              <a:ext cx="97784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endParaRPr/>
            </a:p>
          </p:txBody>
        </p:sp>
        <p:grpSp>
          <p:nvGrpSpPr>
            <p:cNvPr id="285" name="Google Shape;285;p141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286" name="Google Shape;286;p141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프로젝트 지원</a:t>
                </a:r>
                <a:endParaRPr/>
              </a:p>
            </p:txBody>
          </p:sp>
          <p:cxnSp>
            <p:nvCxnSpPr>
              <p:cNvPr id="287" name="Google Shape;287;p141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장">
  <p:cSld name="6장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2"/>
          <p:cNvSpPr/>
          <p:nvPr/>
        </p:nvSpPr>
        <p:spPr>
          <a:xfrm>
            <a:off x="4783082" y="6582969"/>
            <a:ext cx="33983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142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291" name="Google Shape;291;p142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42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293" name="Google Shape;293;p142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42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295" name="Google Shape;295;p142"/>
          <p:cNvGrpSpPr/>
          <p:nvPr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296" name="Google Shape;296;p142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7" name="Google Shape;297;p142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298" name="Google Shape;298;p142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9" name="Google Shape;299;p142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300" name="Google Shape;300;p142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142"/>
          <p:cNvGrpSpPr/>
          <p:nvPr/>
        </p:nvGrpSpPr>
        <p:grpSpPr>
          <a:xfrm>
            <a:off x="9238343" y="0"/>
            <a:ext cx="446449" cy="293168"/>
            <a:chOff x="9238343" y="0"/>
            <a:chExt cx="446449" cy="293168"/>
          </a:xfrm>
        </p:grpSpPr>
        <p:sp>
          <p:nvSpPr>
            <p:cNvPr id="302" name="Google Shape;302;p142"/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</a:t>
              </a:r>
              <a:endParaRPr/>
            </a:p>
          </p:txBody>
        </p:sp>
        <p:grpSp>
          <p:nvGrpSpPr>
            <p:cNvPr id="303" name="Google Shape;303;p142"/>
            <p:cNvGrpSpPr/>
            <p:nvPr/>
          </p:nvGrpSpPr>
          <p:grpSpPr>
            <a:xfrm>
              <a:off x="9238343" y="0"/>
              <a:ext cx="252457" cy="272733"/>
              <a:chOff x="9201387" y="0"/>
              <a:chExt cx="252457" cy="272733"/>
            </a:xfrm>
          </p:grpSpPr>
          <p:sp>
            <p:nvSpPr>
              <p:cNvPr id="304" name="Google Shape;304;p142"/>
              <p:cNvSpPr txBox="1"/>
              <p:nvPr/>
            </p:nvSpPr>
            <p:spPr>
              <a:xfrm>
                <a:off x="9201387" y="131586"/>
                <a:ext cx="201978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기타</a:t>
                </a:r>
                <a:endParaRPr/>
              </a:p>
            </p:txBody>
          </p:sp>
          <p:cxnSp>
            <p:nvCxnSpPr>
              <p:cNvPr id="305" name="Google Shape;305;p142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장_리딩無">
  <p:cSld name="6장_리딩無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3"/>
          <p:cNvSpPr/>
          <p:nvPr/>
        </p:nvSpPr>
        <p:spPr>
          <a:xfrm>
            <a:off x="4783082" y="6582969"/>
            <a:ext cx="33983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" name="Google Shape;308;p143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309" name="Google Shape;309;p143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43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311" name="Google Shape;311;p143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43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313" name="Google Shape;313;p143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314" name="Google Shape;314;p143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315" name="Google Shape;315;p143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16" name="Google Shape;316;p143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17" name="Google Shape;317;p143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143"/>
          <p:cNvGrpSpPr/>
          <p:nvPr/>
        </p:nvGrpSpPr>
        <p:grpSpPr>
          <a:xfrm>
            <a:off x="9238343" y="0"/>
            <a:ext cx="446449" cy="293168"/>
            <a:chOff x="9238343" y="0"/>
            <a:chExt cx="446449" cy="293168"/>
          </a:xfrm>
        </p:grpSpPr>
        <p:sp>
          <p:nvSpPr>
            <p:cNvPr id="319" name="Google Shape;319;p143"/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</a:t>
              </a:r>
              <a:endParaRPr/>
            </a:p>
          </p:txBody>
        </p:sp>
        <p:grpSp>
          <p:nvGrpSpPr>
            <p:cNvPr id="320" name="Google Shape;320;p143"/>
            <p:cNvGrpSpPr/>
            <p:nvPr/>
          </p:nvGrpSpPr>
          <p:grpSpPr>
            <a:xfrm>
              <a:off x="9238343" y="0"/>
              <a:ext cx="252457" cy="272733"/>
              <a:chOff x="9201387" y="0"/>
              <a:chExt cx="252457" cy="272733"/>
            </a:xfrm>
          </p:grpSpPr>
          <p:sp>
            <p:nvSpPr>
              <p:cNvPr id="321" name="Google Shape;321;p143"/>
              <p:cNvSpPr txBox="1"/>
              <p:nvPr/>
            </p:nvSpPr>
            <p:spPr>
              <a:xfrm>
                <a:off x="9201387" y="131586"/>
                <a:ext cx="201978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기타</a:t>
                </a:r>
                <a:endParaRPr/>
              </a:p>
            </p:txBody>
          </p:sp>
          <p:cxnSp>
            <p:nvCxnSpPr>
              <p:cNvPr id="322" name="Google Shape;322;p143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별첨">
  <p:cSld name="별첨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4"/>
          <p:cNvSpPr/>
          <p:nvPr/>
        </p:nvSpPr>
        <p:spPr>
          <a:xfrm>
            <a:off x="4739801" y="6582969"/>
            <a:ext cx="426399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별첨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" name="Google Shape;325;p144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326" name="Google Shape;326;p144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44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328" name="Google Shape;328;p144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44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sp>
        <p:nvSpPr>
          <p:cNvPr id="330" name="Google Shape;330;p144"/>
          <p:cNvSpPr/>
          <p:nvPr/>
        </p:nvSpPr>
        <p:spPr>
          <a:xfrm>
            <a:off x="422184" y="309445"/>
            <a:ext cx="9068616" cy="972820"/>
          </a:xfrm>
          <a:custGeom>
            <a:avLst/>
            <a:gdLst/>
            <a:ahLst/>
            <a:cxnLst/>
            <a:rect l="l" t="t" r="r" b="b"/>
            <a:pathLst>
              <a:path w="5575300" h="4298950" extrusionOk="0">
                <a:moveTo>
                  <a:pt x="0" y="0"/>
                </a:moveTo>
                <a:lnTo>
                  <a:pt x="5575300" y="0"/>
                </a:lnTo>
                <a:lnTo>
                  <a:pt x="5575300" y="4298950"/>
                </a:lnTo>
              </a:path>
            </a:pathLst>
          </a:custGeom>
          <a:noFill/>
          <a:ln w="9525" cap="sq" cmpd="sng">
            <a:solidFill>
              <a:srgbClr val="C5C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p144"/>
          <p:cNvGrpSpPr/>
          <p:nvPr/>
        </p:nvGrpSpPr>
        <p:grpSpPr>
          <a:xfrm>
            <a:off x="234633" y="237274"/>
            <a:ext cx="136517" cy="106291"/>
            <a:chOff x="1495660" y="3500853"/>
            <a:chExt cx="191590" cy="149170"/>
          </a:xfrm>
        </p:grpSpPr>
        <p:sp>
          <p:nvSpPr>
            <p:cNvPr id="332" name="Google Shape;332;p144"/>
            <p:cNvSpPr/>
            <p:nvPr/>
          </p:nvSpPr>
          <p:spPr>
            <a:xfrm rot="10800000">
              <a:off x="1597497" y="3500853"/>
              <a:ext cx="89753" cy="149170"/>
            </a:xfrm>
            <a:custGeom>
              <a:avLst/>
              <a:gdLst/>
              <a:ahLst/>
              <a:cxnLst/>
              <a:rect l="l" t="t" r="r" b="b"/>
              <a:pathLst>
                <a:path w="300" h="499" extrusionOk="0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solidFill>
              <a:srgbClr val="C5C8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algun Gothic"/>
                <a:buNone/>
              </a:pPr>
              <a:endPara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3" name="Google Shape;333;p144"/>
            <p:cNvSpPr/>
            <p:nvPr/>
          </p:nvSpPr>
          <p:spPr>
            <a:xfrm rot="10800000">
              <a:off x="1495660" y="3500853"/>
              <a:ext cx="89627" cy="149170"/>
            </a:xfrm>
            <a:custGeom>
              <a:avLst/>
              <a:gdLst/>
              <a:ahLst/>
              <a:cxnLst/>
              <a:rect l="l" t="t" r="r" b="b"/>
              <a:pathLst>
                <a:path w="300" h="499" extrusionOk="0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solidFill>
              <a:srgbClr val="C5C8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algun Gothic"/>
                <a:buNone/>
              </a:pPr>
              <a:endPara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4" name="Google Shape;334;p144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p144"/>
          <p:cNvGrpSpPr/>
          <p:nvPr/>
        </p:nvGrpSpPr>
        <p:grpSpPr>
          <a:xfrm>
            <a:off x="9238343" y="0"/>
            <a:ext cx="252457" cy="272733"/>
            <a:chOff x="9201387" y="0"/>
            <a:chExt cx="252457" cy="272733"/>
          </a:xfrm>
        </p:grpSpPr>
        <p:sp>
          <p:nvSpPr>
            <p:cNvPr id="336" name="Google Shape;336;p144"/>
            <p:cNvSpPr txBox="1"/>
            <p:nvPr/>
          </p:nvSpPr>
          <p:spPr>
            <a:xfrm>
              <a:off x="9201387" y="131586"/>
              <a:ext cx="201978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0">
                  <a:solidFill>
                    <a:srgbClr val="A0A5AE"/>
                  </a:solidFill>
                  <a:latin typeface="Arial"/>
                  <a:ea typeface="Arial"/>
                  <a:cs typeface="Arial"/>
                  <a:sym typeface="Arial"/>
                </a:rPr>
                <a:t>별첨</a:t>
              </a:r>
              <a:endParaRPr/>
            </a:p>
          </p:txBody>
        </p:sp>
        <p:cxnSp>
          <p:nvCxnSpPr>
            <p:cNvPr id="337" name="Google Shape;337;p144"/>
            <p:cNvCxnSpPr/>
            <p:nvPr/>
          </p:nvCxnSpPr>
          <p:spPr>
            <a:xfrm>
              <a:off x="9453844" y="0"/>
              <a:ext cx="0" cy="272733"/>
            </a:xfrm>
            <a:prstGeom prst="straightConnector1">
              <a:avLst/>
            </a:prstGeom>
            <a:noFill/>
            <a:ln w="9525" cap="rnd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별첨_리딩無">
  <p:cSld name="별첨_리딩無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5"/>
          <p:cNvSpPr/>
          <p:nvPr/>
        </p:nvSpPr>
        <p:spPr>
          <a:xfrm>
            <a:off x="4739801" y="6582969"/>
            <a:ext cx="426399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별첨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145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341" name="Google Shape;341;p145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45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343" name="Google Shape;343;p145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45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345" name="Google Shape;345;p145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346" name="Google Shape;346;p145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347" name="Google Shape;347;p145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48" name="Google Shape;348;p145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49" name="Google Shape;349;p145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145"/>
          <p:cNvGrpSpPr/>
          <p:nvPr/>
        </p:nvGrpSpPr>
        <p:grpSpPr>
          <a:xfrm>
            <a:off x="9238343" y="0"/>
            <a:ext cx="252457" cy="272733"/>
            <a:chOff x="9201387" y="0"/>
            <a:chExt cx="252457" cy="272733"/>
          </a:xfrm>
        </p:grpSpPr>
        <p:sp>
          <p:nvSpPr>
            <p:cNvPr id="351" name="Google Shape;351;p145"/>
            <p:cNvSpPr txBox="1"/>
            <p:nvPr/>
          </p:nvSpPr>
          <p:spPr>
            <a:xfrm>
              <a:off x="9201387" y="131586"/>
              <a:ext cx="201978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0">
                  <a:solidFill>
                    <a:srgbClr val="A0A5AE"/>
                  </a:solidFill>
                  <a:latin typeface="Arial"/>
                  <a:ea typeface="Arial"/>
                  <a:cs typeface="Arial"/>
                  <a:sym typeface="Arial"/>
                </a:rPr>
                <a:t>별첨</a:t>
              </a:r>
              <a:endParaRPr/>
            </a:p>
          </p:txBody>
        </p:sp>
        <p:cxnSp>
          <p:nvCxnSpPr>
            <p:cNvPr id="352" name="Google Shape;352;p145"/>
            <p:cNvCxnSpPr/>
            <p:nvPr/>
          </p:nvCxnSpPr>
          <p:spPr>
            <a:xfrm>
              <a:off x="9453844" y="0"/>
              <a:ext cx="0" cy="272733"/>
            </a:xfrm>
            <a:prstGeom prst="straightConnector1">
              <a:avLst/>
            </a:prstGeom>
            <a:noFill/>
            <a:ln w="9525" cap="rnd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조견표">
  <p:cSld name="조견표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6"/>
          <p:cNvSpPr/>
          <p:nvPr/>
        </p:nvSpPr>
        <p:spPr>
          <a:xfrm>
            <a:off x="4694917" y="6582969"/>
            <a:ext cx="51616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조견표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" name="Google Shape;355;p146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356" name="Google Shape;356;p146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46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358" name="Google Shape;358;p146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46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sp>
        <p:nvSpPr>
          <p:cNvPr id="360" name="Google Shape;360;p146"/>
          <p:cNvSpPr/>
          <p:nvPr/>
        </p:nvSpPr>
        <p:spPr>
          <a:xfrm>
            <a:off x="422184" y="309445"/>
            <a:ext cx="9068616" cy="972820"/>
          </a:xfrm>
          <a:custGeom>
            <a:avLst/>
            <a:gdLst/>
            <a:ahLst/>
            <a:cxnLst/>
            <a:rect l="l" t="t" r="r" b="b"/>
            <a:pathLst>
              <a:path w="5575300" h="4298950" extrusionOk="0">
                <a:moveTo>
                  <a:pt x="0" y="0"/>
                </a:moveTo>
                <a:lnTo>
                  <a:pt x="5575300" y="0"/>
                </a:lnTo>
                <a:lnTo>
                  <a:pt x="5575300" y="4298950"/>
                </a:lnTo>
              </a:path>
            </a:pathLst>
          </a:custGeom>
          <a:noFill/>
          <a:ln w="9525" cap="sq" cmpd="sng">
            <a:solidFill>
              <a:srgbClr val="C5C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146"/>
          <p:cNvGrpSpPr/>
          <p:nvPr/>
        </p:nvGrpSpPr>
        <p:grpSpPr>
          <a:xfrm>
            <a:off x="234633" y="237274"/>
            <a:ext cx="136517" cy="106291"/>
            <a:chOff x="1495660" y="3500853"/>
            <a:chExt cx="191590" cy="149170"/>
          </a:xfrm>
        </p:grpSpPr>
        <p:sp>
          <p:nvSpPr>
            <p:cNvPr id="362" name="Google Shape;362;p146"/>
            <p:cNvSpPr/>
            <p:nvPr/>
          </p:nvSpPr>
          <p:spPr>
            <a:xfrm rot="10800000">
              <a:off x="1597497" y="3500853"/>
              <a:ext cx="89753" cy="149170"/>
            </a:xfrm>
            <a:custGeom>
              <a:avLst/>
              <a:gdLst/>
              <a:ahLst/>
              <a:cxnLst/>
              <a:rect l="l" t="t" r="r" b="b"/>
              <a:pathLst>
                <a:path w="300" h="499" extrusionOk="0">
                  <a:moveTo>
                    <a:pt x="153" y="0"/>
                  </a:moveTo>
                  <a:cubicBezTo>
                    <a:pt x="109" y="0"/>
                    <a:pt x="73" y="13"/>
                    <a:pt x="44" y="40"/>
                  </a:cubicBezTo>
                  <a:cubicBezTo>
                    <a:pt x="15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6" y="402"/>
                    <a:pt x="56" y="419"/>
                    <a:pt x="29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7" y="489"/>
                    <a:pt x="37" y="489"/>
                    <a:pt x="37" y="489"/>
                  </a:cubicBezTo>
                  <a:cubicBezTo>
                    <a:pt x="45" y="499"/>
                    <a:pt x="59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ubicBezTo>
                    <a:pt x="226" y="17"/>
                    <a:pt x="192" y="0"/>
                    <a:pt x="153" y="0"/>
                  </a:cubicBezTo>
                  <a:close/>
                </a:path>
              </a:pathLst>
            </a:custGeom>
            <a:solidFill>
              <a:srgbClr val="C5C8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algun Gothic"/>
                <a:buNone/>
              </a:pPr>
              <a:endPara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3" name="Google Shape;363;p146"/>
            <p:cNvSpPr/>
            <p:nvPr/>
          </p:nvSpPr>
          <p:spPr>
            <a:xfrm rot="10800000">
              <a:off x="1495660" y="3500853"/>
              <a:ext cx="89627" cy="149170"/>
            </a:xfrm>
            <a:custGeom>
              <a:avLst/>
              <a:gdLst/>
              <a:ahLst/>
              <a:cxnLst/>
              <a:rect l="l" t="t" r="r" b="b"/>
              <a:pathLst>
                <a:path w="300" h="499" extrusionOk="0">
                  <a:moveTo>
                    <a:pt x="256" y="53"/>
                  </a:moveTo>
                  <a:cubicBezTo>
                    <a:pt x="226" y="17"/>
                    <a:pt x="191" y="0"/>
                    <a:pt x="152" y="0"/>
                  </a:cubicBezTo>
                  <a:cubicBezTo>
                    <a:pt x="109" y="0"/>
                    <a:pt x="72" y="13"/>
                    <a:pt x="43" y="40"/>
                  </a:cubicBezTo>
                  <a:cubicBezTo>
                    <a:pt x="14" y="68"/>
                    <a:pt x="0" y="103"/>
                    <a:pt x="0" y="147"/>
                  </a:cubicBezTo>
                  <a:cubicBezTo>
                    <a:pt x="0" y="221"/>
                    <a:pt x="45" y="273"/>
                    <a:pt x="134" y="302"/>
                  </a:cubicBezTo>
                  <a:cubicBezTo>
                    <a:pt x="138" y="303"/>
                    <a:pt x="145" y="307"/>
                    <a:pt x="142" y="313"/>
                  </a:cubicBezTo>
                  <a:cubicBezTo>
                    <a:pt x="130" y="338"/>
                    <a:pt x="112" y="364"/>
                    <a:pt x="88" y="389"/>
                  </a:cubicBezTo>
                  <a:cubicBezTo>
                    <a:pt x="75" y="402"/>
                    <a:pt x="56" y="419"/>
                    <a:pt x="28" y="442"/>
                  </a:cubicBezTo>
                  <a:cubicBezTo>
                    <a:pt x="23" y="447"/>
                    <a:pt x="14" y="458"/>
                    <a:pt x="21" y="470"/>
                  </a:cubicBezTo>
                  <a:cubicBezTo>
                    <a:pt x="36" y="489"/>
                    <a:pt x="36" y="489"/>
                    <a:pt x="36" y="489"/>
                  </a:cubicBezTo>
                  <a:cubicBezTo>
                    <a:pt x="44" y="499"/>
                    <a:pt x="58" y="495"/>
                    <a:pt x="64" y="491"/>
                  </a:cubicBezTo>
                  <a:cubicBezTo>
                    <a:pt x="221" y="385"/>
                    <a:pt x="300" y="275"/>
                    <a:pt x="300" y="161"/>
                  </a:cubicBezTo>
                  <a:cubicBezTo>
                    <a:pt x="300" y="122"/>
                    <a:pt x="285" y="86"/>
                    <a:pt x="256" y="53"/>
                  </a:cubicBezTo>
                  <a:close/>
                </a:path>
              </a:pathLst>
            </a:custGeom>
            <a:solidFill>
              <a:srgbClr val="C5C8C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Malgun Gothic"/>
                <a:buNone/>
              </a:pPr>
              <a:endPara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64" name="Google Shape;364;p146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146"/>
          <p:cNvGrpSpPr/>
          <p:nvPr/>
        </p:nvGrpSpPr>
        <p:grpSpPr>
          <a:xfrm>
            <a:off x="9137353" y="0"/>
            <a:ext cx="353447" cy="272733"/>
            <a:chOff x="9100397" y="0"/>
            <a:chExt cx="353447" cy="272733"/>
          </a:xfrm>
        </p:grpSpPr>
        <p:sp>
          <p:nvSpPr>
            <p:cNvPr id="366" name="Google Shape;366;p146"/>
            <p:cNvSpPr txBox="1"/>
            <p:nvPr/>
          </p:nvSpPr>
          <p:spPr>
            <a:xfrm>
              <a:off x="9100397" y="131586"/>
              <a:ext cx="302968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0">
                  <a:solidFill>
                    <a:srgbClr val="A0A5AE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  <p:cxnSp>
          <p:nvCxnSpPr>
            <p:cNvPr id="367" name="Google Shape;367;p146"/>
            <p:cNvCxnSpPr/>
            <p:nvPr/>
          </p:nvCxnSpPr>
          <p:spPr>
            <a:xfrm>
              <a:off x="9453844" y="0"/>
              <a:ext cx="0" cy="272733"/>
            </a:xfrm>
            <a:prstGeom prst="straightConnector1">
              <a:avLst/>
            </a:prstGeom>
            <a:noFill/>
            <a:ln w="9525" cap="rnd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조견표_리딩無">
  <p:cSld name="조견표_리딩無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147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370" name="Google Shape;370;p147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47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372" name="Google Shape;372;p147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47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374" name="Google Shape;374;p147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375" name="Google Shape;375;p147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376" name="Google Shape;376;p147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77" name="Google Shape;377;p147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78" name="Google Shape;378;p147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9" name="Google Shape;379;p147"/>
          <p:cNvGrpSpPr/>
          <p:nvPr/>
        </p:nvGrpSpPr>
        <p:grpSpPr>
          <a:xfrm>
            <a:off x="9137353" y="0"/>
            <a:ext cx="353447" cy="272733"/>
            <a:chOff x="9100397" y="0"/>
            <a:chExt cx="353447" cy="272733"/>
          </a:xfrm>
        </p:grpSpPr>
        <p:sp>
          <p:nvSpPr>
            <p:cNvPr id="380" name="Google Shape;380;p147"/>
            <p:cNvSpPr txBox="1"/>
            <p:nvPr/>
          </p:nvSpPr>
          <p:spPr>
            <a:xfrm>
              <a:off x="9100397" y="131586"/>
              <a:ext cx="302968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 b="0">
                  <a:solidFill>
                    <a:srgbClr val="A0A5AE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  <p:cxnSp>
          <p:nvCxnSpPr>
            <p:cNvPr id="381" name="Google Shape;381;p147"/>
            <p:cNvCxnSpPr/>
            <p:nvPr/>
          </p:nvCxnSpPr>
          <p:spPr>
            <a:xfrm>
              <a:off x="9453844" y="0"/>
              <a:ext cx="0" cy="272733"/>
            </a:xfrm>
            <a:prstGeom prst="straightConnector1">
              <a:avLst/>
            </a:prstGeom>
            <a:noFill/>
            <a:ln w="9525" cap="rnd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2" name="Google Shape;382;p147"/>
          <p:cNvSpPr/>
          <p:nvPr/>
        </p:nvSpPr>
        <p:spPr>
          <a:xfrm>
            <a:off x="4694917" y="6582969"/>
            <a:ext cx="51616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조견표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bg>
      <p:bgPr>
        <a:solidFill>
          <a:srgbClr val="0F56CC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6" name="Google Shape;386;p150"/>
          <p:cNvCxnSpPr/>
          <p:nvPr/>
        </p:nvCxnSpPr>
        <p:spPr>
          <a:xfrm>
            <a:off x="4953000" y="-2117"/>
            <a:ext cx="0" cy="48895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7" name="Google Shape;387;p150" descr="01"/>
          <p:cNvSpPr/>
          <p:nvPr/>
        </p:nvSpPr>
        <p:spPr>
          <a:xfrm>
            <a:off x="4470400" y="575474"/>
            <a:ext cx="965200" cy="19693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rgbClr val="799BB9">
                      <a:alpha val="0"/>
                    </a:srgbClr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Arial"/>
              </a:rPr>
              <a:t>발표순서</a:t>
            </a:r>
          </a:p>
        </p:txBody>
      </p:sp>
      <p:sp>
        <p:nvSpPr>
          <p:cNvPr id="388" name="Google Shape;388;p150"/>
          <p:cNvSpPr txBox="1"/>
          <p:nvPr/>
        </p:nvSpPr>
        <p:spPr>
          <a:xfrm>
            <a:off x="3835400" y="813943"/>
            <a:ext cx="2235200" cy="169277"/>
          </a:xfrm>
          <a:prstGeom prst="rect">
            <a:avLst/>
          </a:prstGeom>
          <a:solidFill>
            <a:srgbClr val="0F56CC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모니모 원앱 구축 프로젝트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 I장">
  <p:cSld name="본문 I장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1"/>
          <p:cNvSpPr txBox="1"/>
          <p:nvPr/>
        </p:nvSpPr>
        <p:spPr>
          <a:xfrm>
            <a:off x="6439152" y="6547872"/>
            <a:ext cx="30164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Copyright 2026. Samsung SDS Co., Ltd. All rights reserved.  |  Confidential </a:t>
            </a:r>
            <a:endParaRPr/>
          </a:p>
        </p:txBody>
      </p:sp>
      <p:sp>
        <p:nvSpPr>
          <p:cNvPr id="391" name="Google Shape;391;p151"/>
          <p:cNvSpPr/>
          <p:nvPr/>
        </p:nvSpPr>
        <p:spPr>
          <a:xfrm>
            <a:off x="1109890" y="6601857"/>
            <a:ext cx="1808187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7488" marR="0" lvl="0" indent="-21748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5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|  모니모 생성형 AI Agent 구축 프로젝트</a:t>
            </a:r>
            <a:endParaRPr/>
          </a:p>
        </p:txBody>
      </p:sp>
      <p:pic>
        <p:nvPicPr>
          <p:cNvPr id="392" name="Google Shape;392;p151"/>
          <p:cNvPicPr preferRelativeResize="0"/>
          <p:nvPr/>
        </p:nvPicPr>
        <p:blipFill rotWithShape="1">
          <a:blip r:embed="rId2">
            <a:alphaModFix/>
          </a:blip>
          <a:srcRect l="45812" t="34987" r="24017" b="33951"/>
          <a:stretch/>
        </p:blipFill>
        <p:spPr>
          <a:xfrm>
            <a:off x="415875" y="6595755"/>
            <a:ext cx="673680" cy="114506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51"/>
          <p:cNvSpPr txBox="1"/>
          <p:nvPr/>
        </p:nvSpPr>
        <p:spPr>
          <a:xfrm>
            <a:off x="9510852" y="172412"/>
            <a:ext cx="4007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0F5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</p:txBody>
      </p:sp>
      <p:sp>
        <p:nvSpPr>
          <p:cNvPr id="394" name="Google Shape;394;p151"/>
          <p:cNvSpPr txBox="1"/>
          <p:nvPr/>
        </p:nvSpPr>
        <p:spPr>
          <a:xfrm>
            <a:off x="8948297" y="226825"/>
            <a:ext cx="43762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제안 개요</a:t>
            </a:r>
            <a:endParaRPr/>
          </a:p>
        </p:txBody>
      </p:sp>
      <p:cxnSp>
        <p:nvCxnSpPr>
          <p:cNvPr id="395" name="Google Shape;395;p151"/>
          <p:cNvCxnSpPr/>
          <p:nvPr/>
        </p:nvCxnSpPr>
        <p:spPr>
          <a:xfrm>
            <a:off x="9452804" y="0"/>
            <a:ext cx="0" cy="371987"/>
          </a:xfrm>
          <a:prstGeom prst="straightConnector1">
            <a:avLst/>
          </a:prstGeom>
          <a:noFill/>
          <a:ln w="9525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6" name="Google Shape;396;p151"/>
          <p:cNvGrpSpPr/>
          <p:nvPr/>
        </p:nvGrpSpPr>
        <p:grpSpPr>
          <a:xfrm>
            <a:off x="9043302" y="140927"/>
            <a:ext cx="316422" cy="50158"/>
            <a:chOff x="9081402" y="140927"/>
            <a:chExt cx="316422" cy="50158"/>
          </a:xfrm>
        </p:grpSpPr>
        <p:sp>
          <p:nvSpPr>
            <p:cNvPr id="397" name="Google Shape;397;p151"/>
            <p:cNvSpPr/>
            <p:nvPr/>
          </p:nvSpPr>
          <p:spPr>
            <a:xfrm>
              <a:off x="9081402" y="140927"/>
              <a:ext cx="50158" cy="50158"/>
            </a:xfrm>
            <a:prstGeom prst="ellipse">
              <a:avLst/>
            </a:prstGeom>
            <a:solidFill>
              <a:srgbClr val="0F56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51"/>
            <p:cNvSpPr/>
            <p:nvPr/>
          </p:nvSpPr>
          <p:spPr>
            <a:xfrm>
              <a:off x="9251184" y="140927"/>
              <a:ext cx="48682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51"/>
            <p:cNvSpPr/>
            <p:nvPr/>
          </p:nvSpPr>
          <p:spPr>
            <a:xfrm>
              <a:off x="9347666" y="140927"/>
              <a:ext cx="50158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51"/>
          <p:cNvSpPr txBox="1"/>
          <p:nvPr/>
        </p:nvSpPr>
        <p:spPr>
          <a:xfrm>
            <a:off x="4530530" y="6545515"/>
            <a:ext cx="841570" cy="1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/ 58</a:t>
            </a:r>
            <a:endParaRPr sz="900" b="0">
              <a:solidFill>
                <a:srgbClr val="7878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1"/>
          <p:cNvSpPr/>
          <p:nvPr/>
        </p:nvSpPr>
        <p:spPr>
          <a:xfrm>
            <a:off x="9125082" y="140927"/>
            <a:ext cx="48682" cy="50158"/>
          </a:xfrm>
          <a:prstGeom prst="ellipse">
            <a:avLst/>
          </a:prstGeom>
          <a:solidFill>
            <a:srgbClr val="BFBFB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 II장">
  <p:cSld name="본문 II장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52"/>
          <p:cNvSpPr txBox="1"/>
          <p:nvPr/>
        </p:nvSpPr>
        <p:spPr>
          <a:xfrm>
            <a:off x="6439152" y="6547872"/>
            <a:ext cx="30164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Copyright 2026. Samsung SDS Co., Ltd. All rights reserved.  |  Confidential </a:t>
            </a:r>
            <a:endParaRPr/>
          </a:p>
        </p:txBody>
      </p:sp>
      <p:sp>
        <p:nvSpPr>
          <p:cNvPr id="404" name="Google Shape;404;p152"/>
          <p:cNvSpPr/>
          <p:nvPr/>
        </p:nvSpPr>
        <p:spPr>
          <a:xfrm>
            <a:off x="1109890" y="6601857"/>
            <a:ext cx="1808187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7488" marR="0" lvl="0" indent="-21748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5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|  모니모 생성형 AI Agent 구축 프로젝트</a:t>
            </a:r>
            <a:endParaRPr/>
          </a:p>
        </p:txBody>
      </p:sp>
      <p:pic>
        <p:nvPicPr>
          <p:cNvPr id="405" name="Google Shape;405;p152"/>
          <p:cNvPicPr preferRelativeResize="0"/>
          <p:nvPr/>
        </p:nvPicPr>
        <p:blipFill rotWithShape="1">
          <a:blip r:embed="rId2">
            <a:alphaModFix/>
          </a:blip>
          <a:srcRect l="45812" t="34987" r="24017" b="33951"/>
          <a:stretch/>
        </p:blipFill>
        <p:spPr>
          <a:xfrm>
            <a:off x="415875" y="6595755"/>
            <a:ext cx="673680" cy="11450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52"/>
          <p:cNvSpPr txBox="1"/>
          <p:nvPr/>
        </p:nvSpPr>
        <p:spPr>
          <a:xfrm>
            <a:off x="9494255" y="195888"/>
            <a:ext cx="96748" cy="24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0F5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</a:t>
            </a:r>
            <a:endParaRPr/>
          </a:p>
        </p:txBody>
      </p:sp>
      <p:sp>
        <p:nvSpPr>
          <p:cNvPr id="407" name="Google Shape;407;p152"/>
          <p:cNvSpPr txBox="1"/>
          <p:nvPr/>
        </p:nvSpPr>
        <p:spPr>
          <a:xfrm>
            <a:off x="8229365" y="257710"/>
            <a:ext cx="1114083" cy="157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 수행 방안</a:t>
            </a:r>
            <a:endParaRPr/>
          </a:p>
        </p:txBody>
      </p:sp>
      <p:cxnSp>
        <p:nvCxnSpPr>
          <p:cNvPr id="408" name="Google Shape;408;p152"/>
          <p:cNvCxnSpPr/>
          <p:nvPr/>
        </p:nvCxnSpPr>
        <p:spPr>
          <a:xfrm>
            <a:off x="9424186" y="0"/>
            <a:ext cx="0" cy="422638"/>
          </a:xfrm>
          <a:prstGeom prst="straightConnector1">
            <a:avLst/>
          </a:prstGeom>
          <a:noFill/>
          <a:ln w="9525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9" name="Google Shape;409;p152"/>
          <p:cNvSpPr txBox="1"/>
          <p:nvPr/>
        </p:nvSpPr>
        <p:spPr>
          <a:xfrm>
            <a:off x="4530530" y="6545515"/>
            <a:ext cx="841570" cy="1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/ 58</a:t>
            </a:r>
            <a:endParaRPr sz="900" b="0">
              <a:solidFill>
                <a:srgbClr val="7878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152"/>
          <p:cNvGrpSpPr/>
          <p:nvPr/>
        </p:nvGrpSpPr>
        <p:grpSpPr>
          <a:xfrm>
            <a:off x="9115310" y="138482"/>
            <a:ext cx="244414" cy="50158"/>
            <a:chOff x="9153410" y="140927"/>
            <a:chExt cx="244414" cy="50158"/>
          </a:xfrm>
        </p:grpSpPr>
        <p:sp>
          <p:nvSpPr>
            <p:cNvPr id="411" name="Google Shape;411;p152"/>
            <p:cNvSpPr/>
            <p:nvPr/>
          </p:nvSpPr>
          <p:spPr>
            <a:xfrm>
              <a:off x="9153410" y="140927"/>
              <a:ext cx="50158" cy="50158"/>
            </a:xfrm>
            <a:prstGeom prst="ellipse">
              <a:avLst/>
            </a:prstGeom>
            <a:solidFill>
              <a:srgbClr val="0F56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52"/>
            <p:cNvSpPr/>
            <p:nvPr/>
          </p:nvSpPr>
          <p:spPr>
            <a:xfrm>
              <a:off x="9251184" y="140927"/>
              <a:ext cx="48682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52"/>
            <p:cNvSpPr/>
            <p:nvPr/>
          </p:nvSpPr>
          <p:spPr>
            <a:xfrm>
              <a:off x="9347666" y="140927"/>
              <a:ext cx="50158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4" name="Google Shape;414;p152"/>
          <p:cNvSpPr/>
          <p:nvPr/>
        </p:nvSpPr>
        <p:spPr>
          <a:xfrm>
            <a:off x="9021452" y="138482"/>
            <a:ext cx="48682" cy="50158"/>
          </a:xfrm>
          <a:prstGeom prst="ellipse">
            <a:avLst/>
          </a:prstGeom>
          <a:solidFill>
            <a:srgbClr val="BFBFB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 III장">
  <p:cSld name="본문 III장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3"/>
          <p:cNvSpPr txBox="1"/>
          <p:nvPr/>
        </p:nvSpPr>
        <p:spPr>
          <a:xfrm>
            <a:off x="6439152" y="6547872"/>
            <a:ext cx="30164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Copyright 2026. Samsung SDS Co., Ltd. All rights reserved.  |  Confidential </a:t>
            </a:r>
            <a:endParaRPr/>
          </a:p>
        </p:txBody>
      </p:sp>
      <p:sp>
        <p:nvSpPr>
          <p:cNvPr id="417" name="Google Shape;417;p153"/>
          <p:cNvSpPr/>
          <p:nvPr/>
        </p:nvSpPr>
        <p:spPr>
          <a:xfrm>
            <a:off x="1109890" y="6601857"/>
            <a:ext cx="1808187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7488" marR="0" lvl="0" indent="-21748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5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|  모니모 생성형 AI Agent 구축 프로젝트</a:t>
            </a:r>
            <a:endParaRPr/>
          </a:p>
        </p:txBody>
      </p:sp>
      <p:pic>
        <p:nvPicPr>
          <p:cNvPr id="418" name="Google Shape;418;p153"/>
          <p:cNvPicPr preferRelativeResize="0"/>
          <p:nvPr/>
        </p:nvPicPr>
        <p:blipFill rotWithShape="1">
          <a:blip r:embed="rId2">
            <a:alphaModFix/>
          </a:blip>
          <a:srcRect l="45812" t="34987" r="24017" b="33951"/>
          <a:stretch/>
        </p:blipFill>
        <p:spPr>
          <a:xfrm>
            <a:off x="415875" y="6595755"/>
            <a:ext cx="673680" cy="114506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53"/>
          <p:cNvSpPr txBox="1"/>
          <p:nvPr/>
        </p:nvSpPr>
        <p:spPr>
          <a:xfrm>
            <a:off x="9494222" y="172412"/>
            <a:ext cx="1368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0F5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</a:t>
            </a:r>
            <a:endParaRPr/>
          </a:p>
        </p:txBody>
      </p:sp>
      <p:sp>
        <p:nvSpPr>
          <p:cNvPr id="420" name="Google Shape;420;p153"/>
          <p:cNvSpPr txBox="1"/>
          <p:nvPr/>
        </p:nvSpPr>
        <p:spPr>
          <a:xfrm>
            <a:off x="8301373" y="226825"/>
            <a:ext cx="105063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 수행계획</a:t>
            </a:r>
            <a:endParaRPr/>
          </a:p>
        </p:txBody>
      </p:sp>
      <p:cxnSp>
        <p:nvCxnSpPr>
          <p:cNvPr id="421" name="Google Shape;421;p153"/>
          <p:cNvCxnSpPr/>
          <p:nvPr/>
        </p:nvCxnSpPr>
        <p:spPr>
          <a:xfrm>
            <a:off x="9428143" y="0"/>
            <a:ext cx="0" cy="371987"/>
          </a:xfrm>
          <a:prstGeom prst="straightConnector1">
            <a:avLst/>
          </a:prstGeom>
          <a:noFill/>
          <a:ln w="9525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2" name="Google Shape;422;p153"/>
          <p:cNvGrpSpPr/>
          <p:nvPr/>
        </p:nvGrpSpPr>
        <p:grpSpPr>
          <a:xfrm>
            <a:off x="9043751" y="139190"/>
            <a:ext cx="278437" cy="50158"/>
            <a:chOff x="9153224" y="140927"/>
            <a:chExt cx="244600" cy="50158"/>
          </a:xfrm>
        </p:grpSpPr>
        <p:sp>
          <p:nvSpPr>
            <p:cNvPr id="423" name="Google Shape;423;p153"/>
            <p:cNvSpPr/>
            <p:nvPr/>
          </p:nvSpPr>
          <p:spPr>
            <a:xfrm>
              <a:off x="9153224" y="140927"/>
              <a:ext cx="50158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53"/>
            <p:cNvSpPr/>
            <p:nvPr/>
          </p:nvSpPr>
          <p:spPr>
            <a:xfrm>
              <a:off x="9250446" y="140927"/>
              <a:ext cx="50158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53"/>
            <p:cNvSpPr/>
            <p:nvPr/>
          </p:nvSpPr>
          <p:spPr>
            <a:xfrm>
              <a:off x="9347666" y="140927"/>
              <a:ext cx="50158" cy="50158"/>
            </a:xfrm>
            <a:prstGeom prst="ellipse">
              <a:avLst/>
            </a:prstGeom>
            <a:solidFill>
              <a:srgbClr val="0F56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6" name="Google Shape;426;p153"/>
          <p:cNvSpPr txBox="1"/>
          <p:nvPr/>
        </p:nvSpPr>
        <p:spPr>
          <a:xfrm>
            <a:off x="4530530" y="6545515"/>
            <a:ext cx="841570" cy="1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/ 58</a:t>
            </a:r>
            <a:endParaRPr sz="900" b="0">
              <a:solidFill>
                <a:srgbClr val="7878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3"/>
          <p:cNvSpPr/>
          <p:nvPr/>
        </p:nvSpPr>
        <p:spPr>
          <a:xfrm>
            <a:off x="9373993" y="139190"/>
            <a:ext cx="57097" cy="50158"/>
          </a:xfrm>
          <a:prstGeom prst="ellipse">
            <a:avLst/>
          </a:prstGeom>
          <a:solidFill>
            <a:srgbClr val="BFBFB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 III장">
  <p:cSld name="1_본문 III장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4"/>
          <p:cNvSpPr txBox="1"/>
          <p:nvPr/>
        </p:nvSpPr>
        <p:spPr>
          <a:xfrm>
            <a:off x="6439152" y="6547872"/>
            <a:ext cx="301644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Copyright 2026. Samsung SDS Co., Ltd. All rights reserved.  |  Confidential </a:t>
            </a:r>
            <a:endParaRPr/>
          </a:p>
        </p:txBody>
      </p:sp>
      <p:sp>
        <p:nvSpPr>
          <p:cNvPr id="430" name="Google Shape;430;p154"/>
          <p:cNvSpPr/>
          <p:nvPr/>
        </p:nvSpPr>
        <p:spPr>
          <a:xfrm>
            <a:off x="1109890" y="6601857"/>
            <a:ext cx="1808187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7488" marR="0" lvl="0" indent="-21748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5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|  모니모 생성형 AI Agent 구축 프로젝트</a:t>
            </a:r>
            <a:endParaRPr/>
          </a:p>
        </p:txBody>
      </p:sp>
      <p:pic>
        <p:nvPicPr>
          <p:cNvPr id="431" name="Google Shape;431;p154"/>
          <p:cNvPicPr preferRelativeResize="0"/>
          <p:nvPr/>
        </p:nvPicPr>
        <p:blipFill rotWithShape="1">
          <a:blip r:embed="rId2">
            <a:alphaModFix/>
          </a:blip>
          <a:srcRect l="45812" t="34987" r="24017" b="33951"/>
          <a:stretch/>
        </p:blipFill>
        <p:spPr>
          <a:xfrm>
            <a:off x="415875" y="6595755"/>
            <a:ext cx="673680" cy="11450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54"/>
          <p:cNvSpPr txBox="1"/>
          <p:nvPr/>
        </p:nvSpPr>
        <p:spPr>
          <a:xfrm>
            <a:off x="9494222" y="172412"/>
            <a:ext cx="1506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0F56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</a:t>
            </a:r>
            <a:endParaRPr/>
          </a:p>
        </p:txBody>
      </p:sp>
      <p:sp>
        <p:nvSpPr>
          <p:cNvPr id="433" name="Google Shape;433;p154"/>
          <p:cNvSpPr txBox="1"/>
          <p:nvPr/>
        </p:nvSpPr>
        <p:spPr>
          <a:xfrm>
            <a:off x="8301373" y="226825"/>
            <a:ext cx="105063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 수행계획</a:t>
            </a:r>
            <a:endParaRPr/>
          </a:p>
        </p:txBody>
      </p:sp>
      <p:cxnSp>
        <p:nvCxnSpPr>
          <p:cNvPr id="434" name="Google Shape;434;p154"/>
          <p:cNvCxnSpPr/>
          <p:nvPr/>
        </p:nvCxnSpPr>
        <p:spPr>
          <a:xfrm>
            <a:off x="9428143" y="0"/>
            <a:ext cx="0" cy="371987"/>
          </a:xfrm>
          <a:prstGeom prst="straightConnector1">
            <a:avLst/>
          </a:prstGeom>
          <a:noFill/>
          <a:ln w="9525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35" name="Google Shape;435;p154"/>
          <p:cNvGrpSpPr/>
          <p:nvPr/>
        </p:nvGrpSpPr>
        <p:grpSpPr>
          <a:xfrm>
            <a:off x="9043716" y="139190"/>
            <a:ext cx="358857" cy="50158"/>
            <a:chOff x="9153224" y="140927"/>
            <a:chExt cx="315248" cy="50158"/>
          </a:xfrm>
        </p:grpSpPr>
        <p:sp>
          <p:nvSpPr>
            <p:cNvPr id="436" name="Google Shape;436;p154"/>
            <p:cNvSpPr/>
            <p:nvPr/>
          </p:nvSpPr>
          <p:spPr>
            <a:xfrm>
              <a:off x="9153224" y="140927"/>
              <a:ext cx="50158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54"/>
            <p:cNvSpPr/>
            <p:nvPr/>
          </p:nvSpPr>
          <p:spPr>
            <a:xfrm>
              <a:off x="9250446" y="140927"/>
              <a:ext cx="50158" cy="50158"/>
            </a:xfrm>
            <a:prstGeom prst="ellipse">
              <a:avLst/>
            </a:prstGeom>
            <a:solidFill>
              <a:srgbClr val="BFBFBF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54"/>
            <p:cNvSpPr/>
            <p:nvPr/>
          </p:nvSpPr>
          <p:spPr>
            <a:xfrm>
              <a:off x="9418314" y="140927"/>
              <a:ext cx="50158" cy="50158"/>
            </a:xfrm>
            <a:prstGeom prst="ellipse">
              <a:avLst/>
            </a:prstGeom>
            <a:solidFill>
              <a:srgbClr val="0F56C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154"/>
          <p:cNvSpPr txBox="1"/>
          <p:nvPr/>
        </p:nvSpPr>
        <p:spPr>
          <a:xfrm>
            <a:off x="4530530" y="6545515"/>
            <a:ext cx="841570" cy="1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/ 58</a:t>
            </a:r>
            <a:endParaRPr sz="900" b="0">
              <a:solidFill>
                <a:srgbClr val="7878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4"/>
          <p:cNvSpPr/>
          <p:nvPr/>
        </p:nvSpPr>
        <p:spPr>
          <a:xfrm>
            <a:off x="9252387" y="139190"/>
            <a:ext cx="57097" cy="50158"/>
          </a:xfrm>
          <a:prstGeom prst="ellipse">
            <a:avLst/>
          </a:prstGeom>
          <a:solidFill>
            <a:srgbClr val="BFBFB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별첨">
  <p:cSld name="별첨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5"/>
          <p:cNvSpPr txBox="1"/>
          <p:nvPr/>
        </p:nvSpPr>
        <p:spPr>
          <a:xfrm>
            <a:off x="6439152" y="6601733"/>
            <a:ext cx="301644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Copyright 2024. Samsung SDS Co., Ltd. All rights reserved.  |  Confidential </a:t>
            </a:r>
            <a:endParaRPr/>
          </a:p>
        </p:txBody>
      </p:sp>
      <p:sp>
        <p:nvSpPr>
          <p:cNvPr id="443" name="Google Shape;443;p155"/>
          <p:cNvSpPr txBox="1"/>
          <p:nvPr/>
        </p:nvSpPr>
        <p:spPr>
          <a:xfrm>
            <a:off x="4530530" y="6545515"/>
            <a:ext cx="841570" cy="1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9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8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70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/ 별첨</a:t>
            </a:r>
            <a:endParaRPr/>
          </a:p>
        </p:txBody>
      </p:sp>
      <p:sp>
        <p:nvSpPr>
          <p:cNvPr id="444" name="Google Shape;444;p155"/>
          <p:cNvSpPr/>
          <p:nvPr/>
        </p:nvSpPr>
        <p:spPr>
          <a:xfrm>
            <a:off x="1109890" y="6601857"/>
            <a:ext cx="1117294" cy="11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7488" marR="0" lvl="0" indent="-21748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50" b="0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 |  모니모 원앱 구축 프로젝트</a:t>
            </a:r>
            <a:endParaRPr/>
          </a:p>
        </p:txBody>
      </p:sp>
      <p:pic>
        <p:nvPicPr>
          <p:cNvPr id="445" name="Google Shape;445;p155"/>
          <p:cNvPicPr preferRelativeResize="0"/>
          <p:nvPr/>
        </p:nvPicPr>
        <p:blipFill rotWithShape="1">
          <a:blip r:embed="rId2">
            <a:alphaModFix/>
          </a:blip>
          <a:srcRect l="45812" t="34987" r="24017" b="33951"/>
          <a:stretch/>
        </p:blipFill>
        <p:spPr>
          <a:xfrm>
            <a:off x="415875" y="6595755"/>
            <a:ext cx="673680" cy="11450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55"/>
          <p:cNvSpPr txBox="1"/>
          <p:nvPr/>
        </p:nvSpPr>
        <p:spPr>
          <a:xfrm>
            <a:off x="8462963" y="226825"/>
            <a:ext cx="922954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 b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별첨</a:t>
            </a:r>
            <a:endParaRPr/>
          </a:p>
        </p:txBody>
      </p:sp>
      <p:cxnSp>
        <p:nvCxnSpPr>
          <p:cNvPr id="447" name="Google Shape;447;p155"/>
          <p:cNvCxnSpPr/>
          <p:nvPr/>
        </p:nvCxnSpPr>
        <p:spPr>
          <a:xfrm>
            <a:off x="9452804" y="0"/>
            <a:ext cx="0" cy="371987"/>
          </a:xfrm>
          <a:prstGeom prst="straightConnector1">
            <a:avLst/>
          </a:prstGeom>
          <a:noFill/>
          <a:ln w="9525" cap="rnd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감사합니다">
  <p:cSld name="감사합니다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9" name="Google Shape;449;p156"/>
          <p:cNvCxnSpPr/>
          <p:nvPr/>
        </p:nvCxnSpPr>
        <p:spPr>
          <a:xfrm>
            <a:off x="2976774" y="2420888"/>
            <a:ext cx="3952452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0" name="Google Shape;450;p156"/>
          <p:cNvSpPr txBox="1"/>
          <p:nvPr/>
        </p:nvSpPr>
        <p:spPr>
          <a:xfrm>
            <a:off x="3835400" y="2336250"/>
            <a:ext cx="2235200" cy="169277"/>
          </a:xfrm>
          <a:prstGeom prst="rect">
            <a:avLst/>
          </a:prstGeom>
          <a:solidFill>
            <a:srgbClr val="0F56CC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모니모 원앱 구축 프로젝트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엔딩">
  <p:cSld name="엔딩">
    <p:bg>
      <p:bgPr>
        <a:solidFill>
          <a:schemeClr val="lt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" name="Google Shape;452;p157"/>
          <p:cNvGrpSpPr/>
          <p:nvPr/>
        </p:nvGrpSpPr>
        <p:grpSpPr>
          <a:xfrm>
            <a:off x="3631400" y="3271044"/>
            <a:ext cx="2643200" cy="315913"/>
            <a:chOff x="4773636" y="3097218"/>
            <a:chExt cx="2643200" cy="315913"/>
          </a:xfrm>
        </p:grpSpPr>
        <p:sp>
          <p:nvSpPr>
            <p:cNvPr id="453" name="Google Shape;453;p157"/>
            <p:cNvSpPr/>
            <p:nvPr/>
          </p:nvSpPr>
          <p:spPr>
            <a:xfrm>
              <a:off x="4773636" y="3097218"/>
              <a:ext cx="200026" cy="315913"/>
            </a:xfrm>
            <a:custGeom>
              <a:avLst/>
              <a:gdLst/>
              <a:ahLst/>
              <a:cxnLst/>
              <a:rect l="l" t="t" r="r" b="b"/>
              <a:pathLst>
                <a:path w="74" h="116" extrusionOk="0">
                  <a:moveTo>
                    <a:pt x="34" y="116"/>
                  </a:moveTo>
                  <a:cubicBezTo>
                    <a:pt x="5" y="116"/>
                    <a:pt x="0" y="99"/>
                    <a:pt x="1" y="79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5" y="90"/>
                    <a:pt x="25" y="99"/>
                    <a:pt x="38" y="99"/>
                  </a:cubicBezTo>
                  <a:cubicBezTo>
                    <a:pt x="46" y="99"/>
                    <a:pt x="50" y="94"/>
                    <a:pt x="50" y="86"/>
                  </a:cubicBezTo>
                  <a:cubicBezTo>
                    <a:pt x="50" y="66"/>
                    <a:pt x="3" y="65"/>
                    <a:pt x="3" y="31"/>
                  </a:cubicBezTo>
                  <a:cubicBezTo>
                    <a:pt x="3" y="14"/>
                    <a:pt x="11" y="0"/>
                    <a:pt x="39" y="0"/>
                  </a:cubicBezTo>
                  <a:cubicBezTo>
                    <a:pt x="62" y="0"/>
                    <a:pt x="74" y="10"/>
                    <a:pt x="72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25"/>
                    <a:pt x="48" y="17"/>
                    <a:pt x="38" y="17"/>
                  </a:cubicBezTo>
                  <a:cubicBezTo>
                    <a:pt x="31" y="17"/>
                    <a:pt x="26" y="21"/>
                    <a:pt x="26" y="29"/>
                  </a:cubicBezTo>
                  <a:cubicBezTo>
                    <a:pt x="26" y="50"/>
                    <a:pt x="74" y="48"/>
                    <a:pt x="74" y="83"/>
                  </a:cubicBezTo>
                  <a:cubicBezTo>
                    <a:pt x="74" y="112"/>
                    <a:pt x="52" y="116"/>
                    <a:pt x="34" y="116"/>
                  </a:cubicBez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57"/>
            <p:cNvSpPr/>
            <p:nvPr/>
          </p:nvSpPr>
          <p:spPr>
            <a:xfrm>
              <a:off x="4992712" y="3097218"/>
              <a:ext cx="250826" cy="304800"/>
            </a:xfrm>
            <a:custGeom>
              <a:avLst/>
              <a:gdLst/>
              <a:ahLst/>
              <a:cxnLst/>
              <a:rect l="l" t="t" r="r" b="b"/>
              <a:pathLst>
                <a:path w="158" h="192" extrusionOk="0">
                  <a:moveTo>
                    <a:pt x="0" y="192"/>
                  </a:moveTo>
                  <a:lnTo>
                    <a:pt x="53" y="0"/>
                  </a:lnTo>
                  <a:lnTo>
                    <a:pt x="107" y="0"/>
                  </a:lnTo>
                  <a:lnTo>
                    <a:pt x="158" y="192"/>
                  </a:lnTo>
                  <a:lnTo>
                    <a:pt x="117" y="192"/>
                  </a:lnTo>
                  <a:lnTo>
                    <a:pt x="105" y="149"/>
                  </a:lnTo>
                  <a:lnTo>
                    <a:pt x="50" y="149"/>
                  </a:lnTo>
                  <a:lnTo>
                    <a:pt x="40" y="192"/>
                  </a:lnTo>
                  <a:lnTo>
                    <a:pt x="0" y="192"/>
                  </a:lnTo>
                  <a:close/>
                  <a:moveTo>
                    <a:pt x="77" y="36"/>
                  </a:moveTo>
                  <a:lnTo>
                    <a:pt x="77" y="36"/>
                  </a:lnTo>
                  <a:lnTo>
                    <a:pt x="59" y="120"/>
                  </a:lnTo>
                  <a:lnTo>
                    <a:pt x="96" y="120"/>
                  </a:lnTo>
                  <a:lnTo>
                    <a:pt x="77" y="36"/>
                  </a:ln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57"/>
            <p:cNvSpPr/>
            <p:nvPr/>
          </p:nvSpPr>
          <p:spPr>
            <a:xfrm>
              <a:off x="5270526" y="3097218"/>
              <a:ext cx="301626" cy="304800"/>
            </a:xfrm>
            <a:custGeom>
              <a:avLst/>
              <a:gdLst/>
              <a:ahLst/>
              <a:cxnLst/>
              <a:rect l="l" t="t" r="r" b="b"/>
              <a:pathLst>
                <a:path w="190" h="192" extrusionOk="0">
                  <a:moveTo>
                    <a:pt x="0" y="192"/>
                  </a:moveTo>
                  <a:lnTo>
                    <a:pt x="0" y="0"/>
                  </a:lnTo>
                  <a:lnTo>
                    <a:pt x="65" y="0"/>
                  </a:lnTo>
                  <a:lnTo>
                    <a:pt x="94" y="130"/>
                  </a:lnTo>
                  <a:lnTo>
                    <a:pt x="96" y="130"/>
                  </a:lnTo>
                  <a:lnTo>
                    <a:pt x="127" y="0"/>
                  </a:lnTo>
                  <a:lnTo>
                    <a:pt x="190" y="0"/>
                  </a:lnTo>
                  <a:lnTo>
                    <a:pt x="190" y="192"/>
                  </a:lnTo>
                  <a:lnTo>
                    <a:pt x="151" y="192"/>
                  </a:lnTo>
                  <a:lnTo>
                    <a:pt x="151" y="44"/>
                  </a:lnTo>
                  <a:lnTo>
                    <a:pt x="151" y="44"/>
                  </a:lnTo>
                  <a:lnTo>
                    <a:pt x="113" y="192"/>
                  </a:lnTo>
                  <a:lnTo>
                    <a:pt x="75" y="192"/>
                  </a:lnTo>
                  <a:lnTo>
                    <a:pt x="39" y="44"/>
                  </a:lnTo>
                  <a:lnTo>
                    <a:pt x="39" y="44"/>
                  </a:lnTo>
                  <a:lnTo>
                    <a:pt x="39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57"/>
            <p:cNvSpPr/>
            <p:nvPr/>
          </p:nvSpPr>
          <p:spPr>
            <a:xfrm>
              <a:off x="5610252" y="3097218"/>
              <a:ext cx="201613" cy="315913"/>
            </a:xfrm>
            <a:custGeom>
              <a:avLst/>
              <a:gdLst/>
              <a:ahLst/>
              <a:cxnLst/>
              <a:rect l="l" t="t" r="r" b="b"/>
              <a:pathLst>
                <a:path w="74" h="116" extrusionOk="0">
                  <a:moveTo>
                    <a:pt x="35" y="116"/>
                  </a:moveTo>
                  <a:cubicBezTo>
                    <a:pt x="6" y="116"/>
                    <a:pt x="0" y="99"/>
                    <a:pt x="1" y="79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5" y="90"/>
                    <a:pt x="25" y="99"/>
                    <a:pt x="38" y="99"/>
                  </a:cubicBezTo>
                  <a:cubicBezTo>
                    <a:pt x="46" y="99"/>
                    <a:pt x="50" y="94"/>
                    <a:pt x="50" y="86"/>
                  </a:cubicBezTo>
                  <a:cubicBezTo>
                    <a:pt x="50" y="66"/>
                    <a:pt x="3" y="65"/>
                    <a:pt x="3" y="31"/>
                  </a:cubicBezTo>
                  <a:cubicBezTo>
                    <a:pt x="3" y="14"/>
                    <a:pt x="11" y="0"/>
                    <a:pt x="40" y="0"/>
                  </a:cubicBezTo>
                  <a:cubicBezTo>
                    <a:pt x="63" y="0"/>
                    <a:pt x="74" y="10"/>
                    <a:pt x="72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25"/>
                    <a:pt x="48" y="17"/>
                    <a:pt x="39" y="17"/>
                  </a:cubicBezTo>
                  <a:cubicBezTo>
                    <a:pt x="31" y="17"/>
                    <a:pt x="26" y="21"/>
                    <a:pt x="26" y="29"/>
                  </a:cubicBezTo>
                  <a:cubicBezTo>
                    <a:pt x="26" y="50"/>
                    <a:pt x="74" y="48"/>
                    <a:pt x="74" y="83"/>
                  </a:cubicBezTo>
                  <a:cubicBezTo>
                    <a:pt x="74" y="112"/>
                    <a:pt x="52" y="116"/>
                    <a:pt x="35" y="116"/>
                  </a:cubicBez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57"/>
            <p:cNvSpPr/>
            <p:nvPr/>
          </p:nvSpPr>
          <p:spPr>
            <a:xfrm>
              <a:off x="5853141" y="3097218"/>
              <a:ext cx="206376" cy="309563"/>
            </a:xfrm>
            <a:custGeom>
              <a:avLst/>
              <a:gdLst/>
              <a:ahLst/>
              <a:cxnLst/>
              <a:rect l="l" t="t" r="r" b="b"/>
              <a:pathLst>
                <a:path w="76" h="114" extrusionOk="0">
                  <a:moveTo>
                    <a:pt x="76" y="0"/>
                  </a:moveTo>
                  <a:cubicBezTo>
                    <a:pt x="76" y="79"/>
                    <a:pt x="76" y="79"/>
                    <a:pt x="76" y="79"/>
                  </a:cubicBezTo>
                  <a:cubicBezTo>
                    <a:pt x="76" y="96"/>
                    <a:pt x="67" y="114"/>
                    <a:pt x="38" y="114"/>
                  </a:cubicBezTo>
                  <a:cubicBezTo>
                    <a:pt x="13" y="114"/>
                    <a:pt x="0" y="101"/>
                    <a:pt x="0" y="7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78"/>
                    <a:pt x="24" y="78"/>
                    <a:pt x="24" y="78"/>
                  </a:cubicBezTo>
                  <a:cubicBezTo>
                    <a:pt x="24" y="92"/>
                    <a:pt x="30" y="97"/>
                    <a:pt x="38" y="97"/>
                  </a:cubicBezTo>
                  <a:cubicBezTo>
                    <a:pt x="48" y="97"/>
                    <a:pt x="53" y="90"/>
                    <a:pt x="53" y="78"/>
                  </a:cubicBezTo>
                  <a:cubicBezTo>
                    <a:pt x="53" y="0"/>
                    <a:pt x="53" y="0"/>
                    <a:pt x="53" y="0"/>
                  </a:cubicBezTo>
                  <a:lnTo>
                    <a:pt x="76" y="0"/>
                  </a:ln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57"/>
            <p:cNvSpPr/>
            <p:nvPr/>
          </p:nvSpPr>
          <p:spPr>
            <a:xfrm>
              <a:off x="6110317" y="3097218"/>
              <a:ext cx="228601" cy="304800"/>
            </a:xfrm>
            <a:custGeom>
              <a:avLst/>
              <a:gdLst/>
              <a:ahLst/>
              <a:cxnLst/>
              <a:rect l="l" t="t" r="r" b="b"/>
              <a:pathLst>
                <a:path w="144" h="192" extrusionOk="0">
                  <a:moveTo>
                    <a:pt x="0" y="192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105" y="134"/>
                  </a:lnTo>
                  <a:lnTo>
                    <a:pt x="107" y="134"/>
                  </a:lnTo>
                  <a:lnTo>
                    <a:pt x="107" y="0"/>
                  </a:lnTo>
                  <a:lnTo>
                    <a:pt x="144" y="0"/>
                  </a:lnTo>
                  <a:lnTo>
                    <a:pt x="144" y="192"/>
                  </a:lnTo>
                  <a:lnTo>
                    <a:pt x="91" y="192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57"/>
            <p:cNvSpPr/>
            <p:nvPr/>
          </p:nvSpPr>
          <p:spPr>
            <a:xfrm>
              <a:off x="6384956" y="3097218"/>
              <a:ext cx="209551" cy="315913"/>
            </a:xfrm>
            <a:custGeom>
              <a:avLst/>
              <a:gdLst/>
              <a:ahLst/>
              <a:cxnLst/>
              <a:rect l="l" t="t" r="r" b="b"/>
              <a:pathLst>
                <a:path w="77" h="116" extrusionOk="0">
                  <a:moveTo>
                    <a:pt x="53" y="36"/>
                  </a:moveTo>
                  <a:cubicBezTo>
                    <a:pt x="53" y="26"/>
                    <a:pt x="51" y="17"/>
                    <a:pt x="39" y="17"/>
                  </a:cubicBezTo>
                  <a:cubicBezTo>
                    <a:pt x="24" y="17"/>
                    <a:pt x="24" y="36"/>
                    <a:pt x="24" y="58"/>
                  </a:cubicBezTo>
                  <a:cubicBezTo>
                    <a:pt x="24" y="93"/>
                    <a:pt x="28" y="99"/>
                    <a:pt x="41" y="99"/>
                  </a:cubicBezTo>
                  <a:cubicBezTo>
                    <a:pt x="45" y="99"/>
                    <a:pt x="49" y="99"/>
                    <a:pt x="53" y="97"/>
                  </a:cubicBezTo>
                  <a:cubicBezTo>
                    <a:pt x="53" y="72"/>
                    <a:pt x="53" y="72"/>
                    <a:pt x="53" y="72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0" y="113"/>
                    <a:pt x="54" y="116"/>
                    <a:pt x="44" y="116"/>
                  </a:cubicBezTo>
                  <a:cubicBezTo>
                    <a:pt x="5" y="116"/>
                    <a:pt x="0" y="99"/>
                    <a:pt x="0" y="57"/>
                  </a:cubicBezTo>
                  <a:cubicBezTo>
                    <a:pt x="0" y="29"/>
                    <a:pt x="2" y="0"/>
                    <a:pt x="40" y="0"/>
                  </a:cubicBezTo>
                  <a:cubicBezTo>
                    <a:pt x="63" y="0"/>
                    <a:pt x="77" y="13"/>
                    <a:pt x="76" y="36"/>
                  </a:cubicBezTo>
                  <a:lnTo>
                    <a:pt x="53" y="36"/>
                  </a:ln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157"/>
            <p:cNvSpPr/>
            <p:nvPr/>
          </p:nvSpPr>
          <p:spPr>
            <a:xfrm>
              <a:off x="6726270" y="3097218"/>
              <a:ext cx="200026" cy="315913"/>
            </a:xfrm>
            <a:custGeom>
              <a:avLst/>
              <a:gdLst/>
              <a:ahLst/>
              <a:cxnLst/>
              <a:rect l="l" t="t" r="r" b="b"/>
              <a:pathLst>
                <a:path w="74" h="116" extrusionOk="0">
                  <a:moveTo>
                    <a:pt x="35" y="116"/>
                  </a:moveTo>
                  <a:cubicBezTo>
                    <a:pt x="6" y="116"/>
                    <a:pt x="0" y="99"/>
                    <a:pt x="2" y="79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5" y="90"/>
                    <a:pt x="25" y="99"/>
                    <a:pt x="38" y="99"/>
                  </a:cubicBezTo>
                  <a:cubicBezTo>
                    <a:pt x="46" y="99"/>
                    <a:pt x="50" y="94"/>
                    <a:pt x="50" y="86"/>
                  </a:cubicBezTo>
                  <a:cubicBezTo>
                    <a:pt x="50" y="66"/>
                    <a:pt x="3" y="65"/>
                    <a:pt x="3" y="31"/>
                  </a:cubicBezTo>
                  <a:cubicBezTo>
                    <a:pt x="3" y="14"/>
                    <a:pt x="11" y="0"/>
                    <a:pt x="40" y="0"/>
                  </a:cubicBezTo>
                  <a:cubicBezTo>
                    <a:pt x="63" y="0"/>
                    <a:pt x="74" y="10"/>
                    <a:pt x="73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25"/>
                    <a:pt x="48" y="17"/>
                    <a:pt x="39" y="17"/>
                  </a:cubicBezTo>
                  <a:cubicBezTo>
                    <a:pt x="31" y="17"/>
                    <a:pt x="27" y="21"/>
                    <a:pt x="27" y="29"/>
                  </a:cubicBezTo>
                  <a:cubicBezTo>
                    <a:pt x="27" y="50"/>
                    <a:pt x="74" y="48"/>
                    <a:pt x="74" y="83"/>
                  </a:cubicBezTo>
                  <a:cubicBezTo>
                    <a:pt x="74" y="112"/>
                    <a:pt x="53" y="116"/>
                    <a:pt x="35" y="116"/>
                  </a:cubicBez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57"/>
            <p:cNvSpPr/>
            <p:nvPr/>
          </p:nvSpPr>
          <p:spPr>
            <a:xfrm>
              <a:off x="6970746" y="3097218"/>
              <a:ext cx="214314" cy="304800"/>
            </a:xfrm>
            <a:custGeom>
              <a:avLst/>
              <a:gdLst/>
              <a:ahLst/>
              <a:cxnLst/>
              <a:rect l="l" t="t" r="r" b="b"/>
              <a:pathLst>
                <a:path w="79" h="112" extrusionOk="0">
                  <a:moveTo>
                    <a:pt x="0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70" y="0"/>
                    <a:pt x="76" y="20"/>
                    <a:pt x="76" y="55"/>
                  </a:cubicBezTo>
                  <a:cubicBezTo>
                    <a:pt x="76" y="73"/>
                    <a:pt x="79" y="112"/>
                    <a:pt x="39" y="112"/>
                  </a:cubicBezTo>
                  <a:cubicBezTo>
                    <a:pt x="0" y="112"/>
                    <a:pt x="0" y="112"/>
                    <a:pt x="0" y="112"/>
                  </a:cubicBezTo>
                  <a:lnTo>
                    <a:pt x="0" y="0"/>
                  </a:lnTo>
                  <a:close/>
                  <a:moveTo>
                    <a:pt x="24" y="95"/>
                  </a:moveTo>
                  <a:cubicBezTo>
                    <a:pt x="35" y="95"/>
                    <a:pt x="35" y="95"/>
                    <a:pt x="35" y="95"/>
                  </a:cubicBezTo>
                  <a:cubicBezTo>
                    <a:pt x="49" y="95"/>
                    <a:pt x="52" y="84"/>
                    <a:pt x="52" y="56"/>
                  </a:cubicBezTo>
                  <a:cubicBezTo>
                    <a:pt x="52" y="35"/>
                    <a:pt x="52" y="17"/>
                    <a:pt x="36" y="17"/>
                  </a:cubicBezTo>
                  <a:cubicBezTo>
                    <a:pt x="24" y="17"/>
                    <a:pt x="24" y="17"/>
                    <a:pt x="24" y="17"/>
                  </a:cubicBezTo>
                  <a:lnTo>
                    <a:pt x="24" y="95"/>
                  </a:ln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57"/>
            <p:cNvSpPr/>
            <p:nvPr/>
          </p:nvSpPr>
          <p:spPr>
            <a:xfrm>
              <a:off x="7215223" y="3097218"/>
              <a:ext cx="201613" cy="315913"/>
            </a:xfrm>
            <a:custGeom>
              <a:avLst/>
              <a:gdLst/>
              <a:ahLst/>
              <a:cxnLst/>
              <a:rect l="l" t="t" r="r" b="b"/>
              <a:pathLst>
                <a:path w="74" h="116" extrusionOk="0">
                  <a:moveTo>
                    <a:pt x="34" y="116"/>
                  </a:moveTo>
                  <a:cubicBezTo>
                    <a:pt x="5" y="116"/>
                    <a:pt x="0" y="99"/>
                    <a:pt x="1" y="79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25" y="90"/>
                    <a:pt x="25" y="99"/>
                    <a:pt x="38" y="99"/>
                  </a:cubicBezTo>
                  <a:cubicBezTo>
                    <a:pt x="46" y="99"/>
                    <a:pt x="50" y="94"/>
                    <a:pt x="50" y="86"/>
                  </a:cubicBezTo>
                  <a:cubicBezTo>
                    <a:pt x="50" y="66"/>
                    <a:pt x="3" y="65"/>
                    <a:pt x="3" y="31"/>
                  </a:cubicBezTo>
                  <a:cubicBezTo>
                    <a:pt x="3" y="14"/>
                    <a:pt x="11" y="0"/>
                    <a:pt x="40" y="0"/>
                  </a:cubicBezTo>
                  <a:cubicBezTo>
                    <a:pt x="62" y="0"/>
                    <a:pt x="74" y="10"/>
                    <a:pt x="72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25"/>
                    <a:pt x="48" y="17"/>
                    <a:pt x="38" y="17"/>
                  </a:cubicBezTo>
                  <a:cubicBezTo>
                    <a:pt x="31" y="17"/>
                    <a:pt x="26" y="21"/>
                    <a:pt x="26" y="29"/>
                  </a:cubicBezTo>
                  <a:cubicBezTo>
                    <a:pt x="26" y="50"/>
                    <a:pt x="74" y="48"/>
                    <a:pt x="74" y="83"/>
                  </a:cubicBezTo>
                  <a:cubicBezTo>
                    <a:pt x="74" y="112"/>
                    <a:pt x="52" y="116"/>
                    <a:pt x="34" y="116"/>
                  </a:cubicBezTo>
                  <a:close/>
                </a:path>
              </a:pathLst>
            </a:custGeom>
            <a:solidFill>
              <a:srgbClr val="1641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화면">
  <p:cSld name="빈화면">
    <p:bg>
      <p:bgPr>
        <a:solidFill>
          <a:schemeClr val="lt1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화면">
  <p:cSld name="빈화면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161"/>
          <p:cNvGrpSpPr/>
          <p:nvPr/>
        </p:nvGrpSpPr>
        <p:grpSpPr>
          <a:xfrm>
            <a:off x="867000" y="6221926"/>
            <a:ext cx="8172000" cy="206375"/>
            <a:chOff x="415924" y="6140862"/>
            <a:chExt cx="9074150" cy="206375"/>
          </a:xfrm>
        </p:grpSpPr>
        <p:sp>
          <p:nvSpPr>
            <p:cNvPr id="468" name="Google Shape;468;p161"/>
            <p:cNvSpPr/>
            <p:nvPr/>
          </p:nvSpPr>
          <p:spPr>
            <a:xfrm rot="5400000">
              <a:off x="4849812" y="1706974"/>
              <a:ext cx="206375" cy="9074150"/>
            </a:xfrm>
            <a:prstGeom prst="rect">
              <a:avLst/>
            </a:prstGeom>
            <a:solidFill>
              <a:srgbClr val="0158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1"/>
            <p:cNvSpPr txBox="1"/>
            <p:nvPr/>
          </p:nvSpPr>
          <p:spPr>
            <a:xfrm>
              <a:off x="4113748" y="6182494"/>
              <a:ext cx="1678509" cy="1231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삼성카드 모니모 AI Agent 구축 사업</a:t>
              </a:r>
              <a:endPara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161"/>
          <p:cNvSpPr/>
          <p:nvPr/>
        </p:nvSpPr>
        <p:spPr>
          <a:xfrm flipH="1">
            <a:off x="-1181" y="0"/>
            <a:ext cx="9908355" cy="12432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p161"/>
          <p:cNvSpPr/>
          <p:nvPr/>
        </p:nvSpPr>
        <p:spPr>
          <a:xfrm rot="5400000">
            <a:off x="4936799" y="-3480521"/>
            <a:ext cx="32400" cy="8172000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1"/>
          <p:cNvSpPr/>
          <p:nvPr/>
        </p:nvSpPr>
        <p:spPr>
          <a:xfrm>
            <a:off x="9006600" y="601104"/>
            <a:ext cx="32400" cy="642140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61"/>
          <p:cNvSpPr/>
          <p:nvPr/>
        </p:nvSpPr>
        <p:spPr>
          <a:xfrm>
            <a:off x="867000" y="601104"/>
            <a:ext cx="32400" cy="641196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1"/>
          <p:cNvSpPr/>
          <p:nvPr/>
        </p:nvSpPr>
        <p:spPr>
          <a:xfrm>
            <a:off x="867000" y="785100"/>
            <a:ext cx="32400" cy="4572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103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1"/>
          <p:cNvSpPr txBox="1"/>
          <p:nvPr/>
        </p:nvSpPr>
        <p:spPr>
          <a:xfrm>
            <a:off x="1115656" y="779703"/>
            <a:ext cx="168494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02095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ko-KR" sz="2800">
                <a:solidFill>
                  <a:srgbClr val="0158FF"/>
                </a:solidFill>
                <a:latin typeface="Arial"/>
                <a:ea typeface="Arial"/>
                <a:cs typeface="Arial"/>
                <a:sym typeface="Arial"/>
              </a:rPr>
              <a:t>ontents</a:t>
            </a:r>
            <a:endParaRPr sz="2800">
              <a:solidFill>
                <a:srgbClr val="0158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>
  <p:cSld name="간지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62"/>
          <p:cNvSpPr/>
          <p:nvPr/>
        </p:nvSpPr>
        <p:spPr>
          <a:xfrm>
            <a:off x="0" y="0"/>
            <a:ext cx="9906000" cy="52831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p162"/>
          <p:cNvSpPr/>
          <p:nvPr/>
        </p:nvSpPr>
        <p:spPr>
          <a:xfrm rot="5400000">
            <a:off x="4849813" y="1973262"/>
            <a:ext cx="206375" cy="6826249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62"/>
          <p:cNvSpPr txBox="1"/>
          <p:nvPr/>
        </p:nvSpPr>
        <p:spPr>
          <a:xfrm>
            <a:off x="4262907" y="5317138"/>
            <a:ext cx="138018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사업 명 또는 프로젝트 명 기입</a:t>
            </a:r>
            <a:endParaRPr/>
          </a:p>
        </p:txBody>
      </p:sp>
      <p:sp>
        <p:nvSpPr>
          <p:cNvPr id="480" name="Google Shape;480;p162"/>
          <p:cNvSpPr/>
          <p:nvPr/>
        </p:nvSpPr>
        <p:spPr>
          <a:xfrm rot="5400000">
            <a:off x="3835401" y="752475"/>
            <a:ext cx="2235199" cy="68262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1" name="Google Shape;481;p162"/>
          <p:cNvSpPr/>
          <p:nvPr/>
        </p:nvSpPr>
        <p:spPr>
          <a:xfrm rot="5400000">
            <a:off x="4939909" y="-1178815"/>
            <a:ext cx="26182" cy="6826249"/>
          </a:xfrm>
          <a:prstGeom prst="rect">
            <a:avLst/>
          </a:prstGeom>
          <a:solidFill>
            <a:srgbClr val="015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62"/>
          <p:cNvSpPr/>
          <p:nvPr/>
        </p:nvSpPr>
        <p:spPr>
          <a:xfrm rot="5400000">
            <a:off x="4939909" y="1748309"/>
            <a:ext cx="26182" cy="972000"/>
          </a:xfrm>
          <a:prstGeom prst="rect">
            <a:avLst/>
          </a:prstGeom>
          <a:solidFill>
            <a:srgbClr val="0209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103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장_리딩無">
  <p:cSld name="6장_리딩無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63"/>
          <p:cNvSpPr/>
          <p:nvPr/>
        </p:nvSpPr>
        <p:spPr>
          <a:xfrm>
            <a:off x="4783082" y="6582969"/>
            <a:ext cx="33983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5" name="Google Shape;485;p163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486" name="Google Shape;486;p163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63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488" name="Google Shape;488;p163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63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490" name="Google Shape;490;p163"/>
          <p:cNvGrpSpPr/>
          <p:nvPr/>
        </p:nvGrpSpPr>
        <p:grpSpPr>
          <a:xfrm>
            <a:off x="234633" y="237274"/>
            <a:ext cx="9256167" cy="565064"/>
            <a:chOff x="234633" y="237274"/>
            <a:chExt cx="9256167" cy="565064"/>
          </a:xfrm>
        </p:grpSpPr>
        <p:grpSp>
          <p:nvGrpSpPr>
            <p:cNvPr id="491" name="Google Shape;491;p163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492" name="Google Shape;492;p163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3" name="Google Shape;493;p163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94" name="Google Shape;494;p163"/>
            <p:cNvSpPr/>
            <p:nvPr/>
          </p:nvSpPr>
          <p:spPr>
            <a:xfrm>
              <a:off x="422184" y="309446"/>
              <a:ext cx="9068616" cy="492892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5" name="Google Shape;495;p163"/>
          <p:cNvGrpSpPr/>
          <p:nvPr/>
        </p:nvGrpSpPr>
        <p:grpSpPr>
          <a:xfrm>
            <a:off x="9238342" y="0"/>
            <a:ext cx="374314" cy="293168"/>
            <a:chOff x="9238342" y="0"/>
            <a:chExt cx="374314" cy="293168"/>
          </a:xfrm>
        </p:grpSpPr>
        <p:sp>
          <p:nvSpPr>
            <p:cNvPr id="496" name="Google Shape;496;p163"/>
            <p:cNvSpPr txBox="1"/>
            <p:nvPr/>
          </p:nvSpPr>
          <p:spPr>
            <a:xfrm>
              <a:off x="9548536" y="108502"/>
              <a:ext cx="641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</a:t>
              </a:r>
              <a:endParaRPr sz="1200">
                <a:solidFill>
                  <a:srgbClr val="A0A5AE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97" name="Google Shape;497;p163"/>
            <p:cNvGrpSpPr/>
            <p:nvPr/>
          </p:nvGrpSpPr>
          <p:grpSpPr>
            <a:xfrm>
              <a:off x="9238342" y="0"/>
              <a:ext cx="252458" cy="272733"/>
              <a:chOff x="9201386" y="0"/>
              <a:chExt cx="252458" cy="272733"/>
            </a:xfrm>
          </p:grpSpPr>
          <p:sp>
            <p:nvSpPr>
              <p:cNvPr id="498" name="Google Shape;498;p163"/>
              <p:cNvSpPr txBox="1"/>
              <p:nvPr/>
            </p:nvSpPr>
            <p:spPr>
              <a:xfrm>
                <a:off x="9201386" y="131586"/>
                <a:ext cx="20197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개요</a:t>
                </a:r>
                <a:endParaRPr sz="900" b="0">
                  <a:solidFill>
                    <a:srgbClr val="A0A5A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9" name="Google Shape;499;p163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장">
  <p:cSld name="6장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4"/>
          <p:cNvSpPr/>
          <p:nvPr/>
        </p:nvSpPr>
        <p:spPr>
          <a:xfrm>
            <a:off x="4783082" y="6582969"/>
            <a:ext cx="33983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VI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2" name="Google Shape;502;p164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503" name="Google Shape;503;p164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64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505" name="Google Shape;505;p164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64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507" name="Google Shape;507;p164"/>
          <p:cNvGrpSpPr/>
          <p:nvPr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508" name="Google Shape;508;p164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9" name="Google Shape;509;p164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510" name="Google Shape;510;p164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11" name="Google Shape;511;p164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512" name="Google Shape;512;p164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3" name="Google Shape;513;p164"/>
          <p:cNvGrpSpPr/>
          <p:nvPr/>
        </p:nvGrpSpPr>
        <p:grpSpPr>
          <a:xfrm>
            <a:off x="9238343" y="0"/>
            <a:ext cx="446449" cy="293168"/>
            <a:chOff x="9238343" y="0"/>
            <a:chExt cx="446449" cy="293168"/>
          </a:xfrm>
        </p:grpSpPr>
        <p:sp>
          <p:nvSpPr>
            <p:cNvPr id="514" name="Google Shape;514;p164"/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</a:t>
              </a:r>
              <a:endParaRPr/>
            </a:p>
          </p:txBody>
        </p:sp>
        <p:grpSp>
          <p:nvGrpSpPr>
            <p:cNvPr id="515" name="Google Shape;515;p164"/>
            <p:cNvGrpSpPr/>
            <p:nvPr/>
          </p:nvGrpSpPr>
          <p:grpSpPr>
            <a:xfrm>
              <a:off x="9238343" y="0"/>
              <a:ext cx="252457" cy="272733"/>
              <a:chOff x="9201387" y="0"/>
              <a:chExt cx="252457" cy="272733"/>
            </a:xfrm>
          </p:grpSpPr>
          <p:sp>
            <p:nvSpPr>
              <p:cNvPr id="516" name="Google Shape;516;p164"/>
              <p:cNvSpPr txBox="1"/>
              <p:nvPr/>
            </p:nvSpPr>
            <p:spPr>
              <a:xfrm>
                <a:off x="9201387" y="131586"/>
                <a:ext cx="201978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기타</a:t>
                </a:r>
                <a:endParaRPr/>
              </a:p>
            </p:txBody>
          </p:sp>
          <p:cxnSp>
            <p:nvCxnSpPr>
              <p:cNvPr id="517" name="Google Shape;517;p164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장">
  <p:cSld name="4장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65"/>
          <p:cNvSpPr/>
          <p:nvPr/>
        </p:nvSpPr>
        <p:spPr>
          <a:xfrm>
            <a:off x="4783082" y="6582969"/>
            <a:ext cx="33983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IV </a:t>
            </a:r>
            <a:r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0" name="Google Shape;520;p165"/>
          <p:cNvGrpSpPr/>
          <p:nvPr/>
        </p:nvGrpSpPr>
        <p:grpSpPr>
          <a:xfrm>
            <a:off x="9704680" y="5377310"/>
            <a:ext cx="201320" cy="967927"/>
            <a:chOff x="9704680" y="5413823"/>
            <a:chExt cx="201320" cy="967927"/>
          </a:xfrm>
        </p:grpSpPr>
        <p:sp>
          <p:nvSpPr>
            <p:cNvPr id="521" name="Google Shape;521;p165"/>
            <p:cNvSpPr/>
            <p:nvPr/>
          </p:nvSpPr>
          <p:spPr>
            <a:xfrm rot="-5400000" flipH="1">
              <a:off x="9572332" y="5546172"/>
              <a:ext cx="466017" cy="201319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65"/>
            <p:cNvSpPr txBox="1"/>
            <p:nvPr/>
          </p:nvSpPr>
          <p:spPr>
            <a:xfrm rot="5400000">
              <a:off x="9686051" y="5577582"/>
              <a:ext cx="256480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목차</a:t>
              </a:r>
              <a:endParaRPr/>
            </a:p>
          </p:txBody>
        </p:sp>
        <p:sp>
          <p:nvSpPr>
            <p:cNvPr id="523" name="Google Shape;523;p165"/>
            <p:cNvSpPr/>
            <p:nvPr/>
          </p:nvSpPr>
          <p:spPr>
            <a:xfrm rot="-5400000" flipH="1">
              <a:off x="9572332" y="6048082"/>
              <a:ext cx="466016" cy="201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A5A5A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65"/>
            <p:cNvSpPr txBox="1"/>
            <p:nvPr/>
          </p:nvSpPr>
          <p:spPr>
            <a:xfrm rot="5400000">
              <a:off x="9621931" y="6084573"/>
              <a:ext cx="384721" cy="138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9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조견표</a:t>
              </a:r>
              <a:endParaRPr/>
            </a:p>
          </p:txBody>
        </p:sp>
      </p:grpSp>
      <p:grpSp>
        <p:nvGrpSpPr>
          <p:cNvPr id="525" name="Google Shape;525;p165"/>
          <p:cNvGrpSpPr/>
          <p:nvPr/>
        </p:nvGrpSpPr>
        <p:grpSpPr>
          <a:xfrm>
            <a:off x="234633" y="237274"/>
            <a:ext cx="9256167" cy="1044991"/>
            <a:chOff x="234633" y="237274"/>
            <a:chExt cx="9256167" cy="1044991"/>
          </a:xfrm>
        </p:grpSpPr>
        <p:sp>
          <p:nvSpPr>
            <p:cNvPr id="526" name="Google Shape;526;p165"/>
            <p:cNvSpPr/>
            <p:nvPr/>
          </p:nvSpPr>
          <p:spPr>
            <a:xfrm>
              <a:off x="422184" y="309445"/>
              <a:ext cx="9068616" cy="972820"/>
            </a:xfrm>
            <a:custGeom>
              <a:avLst/>
              <a:gdLst/>
              <a:ahLst/>
              <a:cxnLst/>
              <a:rect l="l" t="t" r="r" b="b"/>
              <a:pathLst>
                <a:path w="5575300" h="4298950" extrusionOk="0">
                  <a:moveTo>
                    <a:pt x="0" y="0"/>
                  </a:moveTo>
                  <a:lnTo>
                    <a:pt x="5575300" y="0"/>
                  </a:lnTo>
                  <a:lnTo>
                    <a:pt x="5575300" y="4298950"/>
                  </a:lnTo>
                </a:path>
              </a:pathLst>
            </a:custGeom>
            <a:noFill/>
            <a:ln w="9525" cap="sq" cmpd="sng">
              <a:solidFill>
                <a:srgbClr val="C5C8C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7" name="Google Shape;527;p165"/>
            <p:cNvGrpSpPr/>
            <p:nvPr/>
          </p:nvGrpSpPr>
          <p:grpSpPr>
            <a:xfrm>
              <a:off x="234633" y="237274"/>
              <a:ext cx="136517" cy="106291"/>
              <a:chOff x="1495660" y="3500853"/>
              <a:chExt cx="191590" cy="149170"/>
            </a:xfrm>
          </p:grpSpPr>
          <p:sp>
            <p:nvSpPr>
              <p:cNvPr id="528" name="Google Shape;528;p165"/>
              <p:cNvSpPr/>
              <p:nvPr/>
            </p:nvSpPr>
            <p:spPr>
              <a:xfrm rot="10800000">
                <a:off x="1597497" y="3500853"/>
                <a:ext cx="89753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153" y="0"/>
                    </a:moveTo>
                    <a:cubicBezTo>
                      <a:pt x="109" y="0"/>
                      <a:pt x="73" y="13"/>
                      <a:pt x="44" y="40"/>
                    </a:cubicBezTo>
                    <a:cubicBezTo>
                      <a:pt x="15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6" y="402"/>
                      <a:pt x="56" y="419"/>
                      <a:pt x="29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7" y="489"/>
                      <a:pt x="37" y="489"/>
                      <a:pt x="37" y="489"/>
                    </a:cubicBezTo>
                    <a:cubicBezTo>
                      <a:pt x="45" y="499"/>
                      <a:pt x="59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ubicBezTo>
                      <a:pt x="226" y="17"/>
                      <a:pt x="192" y="0"/>
                      <a:pt x="153" y="0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29" name="Google Shape;529;p165"/>
              <p:cNvSpPr/>
              <p:nvPr/>
            </p:nvSpPr>
            <p:spPr>
              <a:xfrm rot="10800000">
                <a:off x="1495660" y="3500853"/>
                <a:ext cx="89627" cy="14917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99" extrusionOk="0">
                    <a:moveTo>
                      <a:pt x="256" y="53"/>
                    </a:moveTo>
                    <a:cubicBezTo>
                      <a:pt x="226" y="17"/>
                      <a:pt x="191" y="0"/>
                      <a:pt x="152" y="0"/>
                    </a:cubicBezTo>
                    <a:cubicBezTo>
                      <a:pt x="109" y="0"/>
                      <a:pt x="72" y="13"/>
                      <a:pt x="43" y="40"/>
                    </a:cubicBezTo>
                    <a:cubicBezTo>
                      <a:pt x="14" y="68"/>
                      <a:pt x="0" y="103"/>
                      <a:pt x="0" y="147"/>
                    </a:cubicBezTo>
                    <a:cubicBezTo>
                      <a:pt x="0" y="221"/>
                      <a:pt x="45" y="273"/>
                      <a:pt x="134" y="302"/>
                    </a:cubicBezTo>
                    <a:cubicBezTo>
                      <a:pt x="138" y="303"/>
                      <a:pt x="145" y="307"/>
                      <a:pt x="142" y="313"/>
                    </a:cubicBezTo>
                    <a:cubicBezTo>
                      <a:pt x="130" y="338"/>
                      <a:pt x="112" y="364"/>
                      <a:pt x="88" y="389"/>
                    </a:cubicBezTo>
                    <a:cubicBezTo>
                      <a:pt x="75" y="402"/>
                      <a:pt x="56" y="419"/>
                      <a:pt x="28" y="442"/>
                    </a:cubicBezTo>
                    <a:cubicBezTo>
                      <a:pt x="23" y="447"/>
                      <a:pt x="14" y="458"/>
                      <a:pt x="21" y="470"/>
                    </a:cubicBezTo>
                    <a:cubicBezTo>
                      <a:pt x="36" y="489"/>
                      <a:pt x="36" y="489"/>
                      <a:pt x="36" y="489"/>
                    </a:cubicBezTo>
                    <a:cubicBezTo>
                      <a:pt x="44" y="499"/>
                      <a:pt x="58" y="495"/>
                      <a:pt x="64" y="491"/>
                    </a:cubicBezTo>
                    <a:cubicBezTo>
                      <a:pt x="221" y="385"/>
                      <a:pt x="300" y="275"/>
                      <a:pt x="300" y="161"/>
                    </a:cubicBezTo>
                    <a:cubicBezTo>
                      <a:pt x="300" y="122"/>
                      <a:pt x="285" y="86"/>
                      <a:pt x="256" y="53"/>
                    </a:cubicBezTo>
                    <a:close/>
                  </a:path>
                </a:pathLst>
              </a:custGeom>
              <a:solidFill>
                <a:srgbClr val="C5C8C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Malgun Gothic"/>
                  <a:buNone/>
                </a:pP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530" name="Google Shape;530;p165"/>
          <p:cNvSpPr/>
          <p:nvPr/>
        </p:nvSpPr>
        <p:spPr>
          <a:xfrm>
            <a:off x="0" y="858481"/>
            <a:ext cx="9906000" cy="540000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" name="Google Shape;531;p165"/>
          <p:cNvGrpSpPr/>
          <p:nvPr/>
        </p:nvGrpSpPr>
        <p:grpSpPr>
          <a:xfrm>
            <a:off x="8800722" y="0"/>
            <a:ext cx="884070" cy="293168"/>
            <a:chOff x="8800722" y="0"/>
            <a:chExt cx="884070" cy="293168"/>
          </a:xfrm>
        </p:grpSpPr>
        <p:sp>
          <p:nvSpPr>
            <p:cNvPr id="532" name="Google Shape;532;p165"/>
            <p:cNvSpPr txBox="1"/>
            <p:nvPr/>
          </p:nvSpPr>
          <p:spPr>
            <a:xfrm>
              <a:off x="9548536" y="108502"/>
              <a:ext cx="1362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A0A5A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IV</a:t>
              </a:r>
              <a:endParaRPr/>
            </a:p>
          </p:txBody>
        </p:sp>
        <p:grpSp>
          <p:nvGrpSpPr>
            <p:cNvPr id="533" name="Google Shape;533;p165"/>
            <p:cNvGrpSpPr/>
            <p:nvPr/>
          </p:nvGrpSpPr>
          <p:grpSpPr>
            <a:xfrm>
              <a:off x="8800722" y="0"/>
              <a:ext cx="690078" cy="272733"/>
              <a:chOff x="8763766" y="0"/>
              <a:chExt cx="690078" cy="272733"/>
            </a:xfrm>
          </p:grpSpPr>
          <p:sp>
            <p:nvSpPr>
              <p:cNvPr id="534" name="Google Shape;534;p165"/>
              <p:cNvSpPr txBox="1"/>
              <p:nvPr/>
            </p:nvSpPr>
            <p:spPr>
              <a:xfrm>
                <a:off x="8763766" y="131586"/>
                <a:ext cx="639599" cy="138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900" b="0">
                    <a:solidFill>
                      <a:srgbClr val="A0A5AE"/>
                    </a:solidFill>
                    <a:latin typeface="Arial"/>
                    <a:ea typeface="Arial"/>
                    <a:cs typeface="Arial"/>
                    <a:sym typeface="Arial"/>
                  </a:rPr>
                  <a:t>프로젝트 관리</a:t>
                </a:r>
                <a:endParaRPr/>
              </a:p>
            </p:txBody>
          </p:sp>
          <p:cxnSp>
            <p:nvCxnSpPr>
              <p:cNvPr id="535" name="Google Shape;535;p165"/>
              <p:cNvCxnSpPr/>
              <p:nvPr/>
            </p:nvCxnSpPr>
            <p:spPr>
              <a:xfrm>
                <a:off x="9453844" y="0"/>
                <a:ext cx="0" cy="272733"/>
              </a:xfrm>
              <a:prstGeom prst="straightConnector1">
                <a:avLst/>
              </a:prstGeom>
              <a:noFill/>
              <a:ln w="9525" cap="rnd" cmpd="sng">
                <a:solidFill>
                  <a:srgbClr val="C5C8CD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1"/>
          <p:cNvSpPr txBox="1"/>
          <p:nvPr/>
        </p:nvSpPr>
        <p:spPr>
          <a:xfrm>
            <a:off x="1035166" y="6590663"/>
            <a:ext cx="1122102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 사업 명 또는 프로젝트 명 기입</a:t>
            </a:r>
            <a:endParaRPr/>
          </a:p>
        </p:txBody>
      </p:sp>
      <p:sp>
        <p:nvSpPr>
          <p:cNvPr id="100" name="Google Shape;100;p131"/>
          <p:cNvSpPr/>
          <p:nvPr/>
        </p:nvSpPr>
        <p:spPr>
          <a:xfrm>
            <a:off x="415201" y="6561348"/>
            <a:ext cx="577360" cy="168065"/>
          </a:xfrm>
          <a:prstGeom prst="rect">
            <a:avLst/>
          </a:prstGeom>
          <a:noFill/>
          <a:ln w="9525" cap="flat" cmpd="sng">
            <a:solidFill>
              <a:srgbClr val="001E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001E54"/>
                </a:solidFill>
                <a:latin typeface="Arial"/>
                <a:ea typeface="Arial"/>
                <a:cs typeface="Arial"/>
                <a:sym typeface="Arial"/>
              </a:rPr>
              <a:t>고객사 로고</a:t>
            </a:r>
            <a:endParaRPr/>
          </a:p>
        </p:txBody>
      </p:sp>
      <p:sp>
        <p:nvSpPr>
          <p:cNvPr id="101" name="Google Shape;101;p131"/>
          <p:cNvSpPr txBox="1"/>
          <p:nvPr/>
        </p:nvSpPr>
        <p:spPr>
          <a:xfrm>
            <a:off x="5716064" y="6590663"/>
            <a:ext cx="301644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700">
                <a:solidFill>
                  <a:srgbClr val="7F7F7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Copyright 2026. Samsung SDS Co., Ltd. All rights reserved.  |  Confidential</a:t>
            </a:r>
            <a:endParaRPr/>
          </a:p>
        </p:txBody>
      </p:sp>
      <p:grpSp>
        <p:nvGrpSpPr>
          <p:cNvPr id="102" name="Google Shape;102;p131"/>
          <p:cNvGrpSpPr/>
          <p:nvPr/>
        </p:nvGrpSpPr>
        <p:grpSpPr>
          <a:xfrm>
            <a:off x="8802887" y="6598937"/>
            <a:ext cx="682625" cy="84138"/>
            <a:chOff x="13112104" y="9610726"/>
            <a:chExt cx="682625" cy="84138"/>
          </a:xfrm>
        </p:grpSpPr>
        <p:sp>
          <p:nvSpPr>
            <p:cNvPr id="103" name="Google Shape;103;p131"/>
            <p:cNvSpPr/>
            <p:nvPr/>
          </p:nvSpPr>
          <p:spPr>
            <a:xfrm>
              <a:off x="13112104" y="9610726"/>
              <a:ext cx="50800" cy="84138"/>
            </a:xfrm>
            <a:custGeom>
              <a:avLst/>
              <a:gdLst/>
              <a:ahLst/>
              <a:cxnLst/>
              <a:rect l="l" t="t" r="r" b="b"/>
              <a:pathLst>
                <a:path w="48" h="77" extrusionOk="0">
                  <a:moveTo>
                    <a:pt x="22" y="77"/>
                  </a:moveTo>
                  <a:cubicBezTo>
                    <a:pt x="3" y="77"/>
                    <a:pt x="0" y="66"/>
                    <a:pt x="1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0"/>
                    <a:pt x="16" y="66"/>
                    <a:pt x="25" y="66"/>
                  </a:cubicBezTo>
                  <a:cubicBezTo>
                    <a:pt x="30" y="66"/>
                    <a:pt x="32" y="63"/>
                    <a:pt x="32" y="58"/>
                  </a:cubicBezTo>
                  <a:cubicBezTo>
                    <a:pt x="32" y="44"/>
                    <a:pt x="1" y="43"/>
                    <a:pt x="1" y="21"/>
                  </a:cubicBezTo>
                  <a:cubicBezTo>
                    <a:pt x="1" y="10"/>
                    <a:pt x="7" y="0"/>
                    <a:pt x="26" y="0"/>
                  </a:cubicBezTo>
                  <a:cubicBezTo>
                    <a:pt x="41" y="0"/>
                    <a:pt x="48" y="7"/>
                    <a:pt x="47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17"/>
                    <a:pt x="31" y="11"/>
                    <a:pt x="25" y="11"/>
                  </a:cubicBezTo>
                  <a:cubicBezTo>
                    <a:pt x="20" y="11"/>
                    <a:pt x="17" y="14"/>
                    <a:pt x="17" y="19"/>
                  </a:cubicBezTo>
                  <a:cubicBezTo>
                    <a:pt x="17" y="34"/>
                    <a:pt x="48" y="32"/>
                    <a:pt x="48" y="56"/>
                  </a:cubicBezTo>
                  <a:cubicBezTo>
                    <a:pt x="48" y="75"/>
                    <a:pt x="34" y="77"/>
                    <a:pt x="22" y="77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4" name="Google Shape;104;p131"/>
            <p:cNvSpPr/>
            <p:nvPr/>
          </p:nvSpPr>
          <p:spPr>
            <a:xfrm>
              <a:off x="13169254" y="9610726"/>
              <a:ext cx="65087" cy="82550"/>
            </a:xfrm>
            <a:custGeom>
              <a:avLst/>
              <a:gdLst/>
              <a:ahLst/>
              <a:cxnLst/>
              <a:rect l="l" t="t" r="r" b="b"/>
              <a:pathLst>
                <a:path w="41" h="52" extrusionOk="0">
                  <a:moveTo>
                    <a:pt x="0" y="52"/>
                  </a:moveTo>
                  <a:lnTo>
                    <a:pt x="13" y="0"/>
                  </a:lnTo>
                  <a:lnTo>
                    <a:pt x="27" y="0"/>
                  </a:lnTo>
                  <a:lnTo>
                    <a:pt x="41" y="52"/>
                  </a:lnTo>
                  <a:lnTo>
                    <a:pt x="29" y="52"/>
                  </a:lnTo>
                  <a:lnTo>
                    <a:pt x="27" y="40"/>
                  </a:lnTo>
                  <a:lnTo>
                    <a:pt x="12" y="40"/>
                  </a:lnTo>
                  <a:lnTo>
                    <a:pt x="10" y="52"/>
                  </a:lnTo>
                  <a:lnTo>
                    <a:pt x="0" y="52"/>
                  </a:lnTo>
                  <a:close/>
                  <a:moveTo>
                    <a:pt x="20" y="10"/>
                  </a:moveTo>
                  <a:lnTo>
                    <a:pt x="19" y="10"/>
                  </a:lnTo>
                  <a:lnTo>
                    <a:pt x="14" y="32"/>
                  </a:lnTo>
                  <a:lnTo>
                    <a:pt x="25" y="32"/>
                  </a:lnTo>
                  <a:lnTo>
                    <a:pt x="20" y="10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" name="Google Shape;105;p131"/>
            <p:cNvSpPr/>
            <p:nvPr/>
          </p:nvSpPr>
          <p:spPr>
            <a:xfrm>
              <a:off x="13240692" y="9610726"/>
              <a:ext cx="77787" cy="82550"/>
            </a:xfrm>
            <a:custGeom>
              <a:avLst/>
              <a:gdLst/>
              <a:ahLst/>
              <a:cxnLst/>
              <a:rect l="l" t="t" r="r" b="b"/>
              <a:pathLst>
                <a:path w="49" h="52" extrusionOk="0">
                  <a:moveTo>
                    <a:pt x="0" y="52"/>
                  </a:moveTo>
                  <a:lnTo>
                    <a:pt x="0" y="0"/>
                  </a:lnTo>
                  <a:lnTo>
                    <a:pt x="17" y="0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3" y="0"/>
                  </a:lnTo>
                  <a:lnTo>
                    <a:pt x="49" y="0"/>
                  </a:lnTo>
                  <a:lnTo>
                    <a:pt x="49" y="52"/>
                  </a:lnTo>
                  <a:lnTo>
                    <a:pt x="39" y="52"/>
                  </a:lnTo>
                  <a:lnTo>
                    <a:pt x="39" y="11"/>
                  </a:lnTo>
                  <a:lnTo>
                    <a:pt x="38" y="11"/>
                  </a:lnTo>
                  <a:lnTo>
                    <a:pt x="29" y="52"/>
                  </a:lnTo>
                  <a:lnTo>
                    <a:pt x="19" y="52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0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" name="Google Shape;106;p131"/>
            <p:cNvSpPr/>
            <p:nvPr/>
          </p:nvSpPr>
          <p:spPr>
            <a:xfrm>
              <a:off x="13328004" y="9610726"/>
              <a:ext cx="52387" cy="84138"/>
            </a:xfrm>
            <a:custGeom>
              <a:avLst/>
              <a:gdLst/>
              <a:ahLst/>
              <a:cxnLst/>
              <a:rect l="l" t="t" r="r" b="b"/>
              <a:pathLst>
                <a:path w="48" h="77" extrusionOk="0">
                  <a:moveTo>
                    <a:pt x="23" y="77"/>
                  </a:moveTo>
                  <a:cubicBezTo>
                    <a:pt x="4" y="77"/>
                    <a:pt x="0" y="66"/>
                    <a:pt x="1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0"/>
                    <a:pt x="17" y="66"/>
                    <a:pt x="25" y="66"/>
                  </a:cubicBezTo>
                  <a:cubicBezTo>
                    <a:pt x="30" y="66"/>
                    <a:pt x="33" y="63"/>
                    <a:pt x="33" y="58"/>
                  </a:cubicBezTo>
                  <a:cubicBezTo>
                    <a:pt x="33" y="44"/>
                    <a:pt x="2" y="43"/>
                    <a:pt x="2" y="21"/>
                  </a:cubicBezTo>
                  <a:cubicBezTo>
                    <a:pt x="2" y="10"/>
                    <a:pt x="7" y="0"/>
                    <a:pt x="26" y="0"/>
                  </a:cubicBezTo>
                  <a:cubicBezTo>
                    <a:pt x="41" y="0"/>
                    <a:pt x="48" y="7"/>
                    <a:pt x="47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17"/>
                    <a:pt x="31" y="11"/>
                    <a:pt x="25" y="11"/>
                  </a:cubicBezTo>
                  <a:cubicBezTo>
                    <a:pt x="20" y="11"/>
                    <a:pt x="17" y="14"/>
                    <a:pt x="17" y="19"/>
                  </a:cubicBezTo>
                  <a:cubicBezTo>
                    <a:pt x="17" y="34"/>
                    <a:pt x="48" y="32"/>
                    <a:pt x="48" y="56"/>
                  </a:cubicBezTo>
                  <a:cubicBezTo>
                    <a:pt x="48" y="75"/>
                    <a:pt x="34" y="77"/>
                    <a:pt x="23" y="77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7" name="Google Shape;107;p131"/>
            <p:cNvSpPr/>
            <p:nvPr/>
          </p:nvSpPr>
          <p:spPr>
            <a:xfrm>
              <a:off x="13389917" y="9610726"/>
              <a:ext cx="55562" cy="82550"/>
            </a:xfrm>
            <a:custGeom>
              <a:avLst/>
              <a:gdLst/>
              <a:ahLst/>
              <a:cxnLst/>
              <a:rect l="l" t="t" r="r" b="b"/>
              <a:pathLst>
                <a:path w="51" h="76" extrusionOk="0">
                  <a:moveTo>
                    <a:pt x="51" y="0"/>
                  </a:moveTo>
                  <a:cubicBezTo>
                    <a:pt x="51" y="53"/>
                    <a:pt x="51" y="53"/>
                    <a:pt x="51" y="53"/>
                  </a:cubicBezTo>
                  <a:cubicBezTo>
                    <a:pt x="51" y="64"/>
                    <a:pt x="44" y="76"/>
                    <a:pt x="26" y="76"/>
                  </a:cubicBezTo>
                  <a:cubicBezTo>
                    <a:pt x="9" y="76"/>
                    <a:pt x="0" y="67"/>
                    <a:pt x="0" y="5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61"/>
                    <a:pt x="20" y="65"/>
                    <a:pt x="25" y="65"/>
                  </a:cubicBezTo>
                  <a:cubicBezTo>
                    <a:pt x="32" y="65"/>
                    <a:pt x="35" y="60"/>
                    <a:pt x="35" y="52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8" name="Google Shape;108;p131"/>
            <p:cNvSpPr/>
            <p:nvPr/>
          </p:nvSpPr>
          <p:spPr>
            <a:xfrm>
              <a:off x="13458179" y="9610726"/>
              <a:ext cx="58737" cy="82550"/>
            </a:xfrm>
            <a:custGeom>
              <a:avLst/>
              <a:gdLst/>
              <a:ahLst/>
              <a:cxnLst/>
              <a:rect l="l" t="t" r="r" b="b"/>
              <a:pathLst>
                <a:path w="37" h="52" extrusionOk="0">
                  <a:moveTo>
                    <a:pt x="0" y="52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7" y="0"/>
                  </a:lnTo>
                  <a:lnTo>
                    <a:pt x="37" y="0"/>
                  </a:lnTo>
                  <a:lnTo>
                    <a:pt x="37" y="52"/>
                  </a:lnTo>
                  <a:lnTo>
                    <a:pt x="23" y="52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5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9" name="Google Shape;109;p131"/>
            <p:cNvSpPr/>
            <p:nvPr/>
          </p:nvSpPr>
          <p:spPr>
            <a:xfrm>
              <a:off x="13529617" y="9610726"/>
              <a:ext cx="53975" cy="84138"/>
            </a:xfrm>
            <a:custGeom>
              <a:avLst/>
              <a:gdLst/>
              <a:ahLst/>
              <a:cxnLst/>
              <a:rect l="l" t="t" r="r" b="b"/>
              <a:pathLst>
                <a:path w="51" h="77" extrusionOk="0">
                  <a:moveTo>
                    <a:pt x="35" y="24"/>
                  </a:moveTo>
                  <a:cubicBezTo>
                    <a:pt x="35" y="18"/>
                    <a:pt x="34" y="11"/>
                    <a:pt x="25" y="11"/>
                  </a:cubicBezTo>
                  <a:cubicBezTo>
                    <a:pt x="16" y="11"/>
                    <a:pt x="16" y="25"/>
                    <a:pt x="16" y="39"/>
                  </a:cubicBezTo>
                  <a:cubicBezTo>
                    <a:pt x="16" y="62"/>
                    <a:pt x="18" y="67"/>
                    <a:pt x="27" y="67"/>
                  </a:cubicBezTo>
                  <a:cubicBezTo>
                    <a:pt x="29" y="67"/>
                    <a:pt x="32" y="66"/>
                    <a:pt x="34" y="65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46" y="76"/>
                    <a:pt x="35" y="77"/>
                    <a:pt x="29" y="77"/>
                  </a:cubicBezTo>
                  <a:cubicBezTo>
                    <a:pt x="3" y="77"/>
                    <a:pt x="0" y="67"/>
                    <a:pt x="0" y="38"/>
                  </a:cubicBezTo>
                  <a:cubicBezTo>
                    <a:pt x="0" y="19"/>
                    <a:pt x="1" y="0"/>
                    <a:pt x="26" y="0"/>
                  </a:cubicBezTo>
                  <a:cubicBezTo>
                    <a:pt x="41" y="0"/>
                    <a:pt x="51" y="9"/>
                    <a:pt x="50" y="24"/>
                  </a:cubicBezTo>
                  <a:lnTo>
                    <a:pt x="35" y="24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0" name="Google Shape;110;p131"/>
            <p:cNvSpPr/>
            <p:nvPr/>
          </p:nvSpPr>
          <p:spPr>
            <a:xfrm>
              <a:off x="13616929" y="9610726"/>
              <a:ext cx="52387" cy="84138"/>
            </a:xfrm>
            <a:custGeom>
              <a:avLst/>
              <a:gdLst/>
              <a:ahLst/>
              <a:cxnLst/>
              <a:rect l="l" t="t" r="r" b="b"/>
              <a:pathLst>
                <a:path w="49" h="77" extrusionOk="0">
                  <a:moveTo>
                    <a:pt x="23" y="77"/>
                  </a:moveTo>
                  <a:cubicBezTo>
                    <a:pt x="4" y="77"/>
                    <a:pt x="0" y="66"/>
                    <a:pt x="1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0"/>
                    <a:pt x="17" y="66"/>
                    <a:pt x="25" y="66"/>
                  </a:cubicBezTo>
                  <a:cubicBezTo>
                    <a:pt x="30" y="66"/>
                    <a:pt x="33" y="63"/>
                    <a:pt x="33" y="58"/>
                  </a:cubicBezTo>
                  <a:cubicBezTo>
                    <a:pt x="33" y="44"/>
                    <a:pt x="2" y="43"/>
                    <a:pt x="2" y="21"/>
                  </a:cubicBezTo>
                  <a:cubicBezTo>
                    <a:pt x="2" y="10"/>
                    <a:pt x="7" y="0"/>
                    <a:pt x="26" y="0"/>
                  </a:cubicBezTo>
                  <a:cubicBezTo>
                    <a:pt x="41" y="0"/>
                    <a:pt x="49" y="7"/>
                    <a:pt x="48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17"/>
                    <a:pt x="32" y="11"/>
                    <a:pt x="25" y="11"/>
                  </a:cubicBezTo>
                  <a:cubicBezTo>
                    <a:pt x="20" y="11"/>
                    <a:pt x="18" y="14"/>
                    <a:pt x="18" y="19"/>
                  </a:cubicBezTo>
                  <a:cubicBezTo>
                    <a:pt x="18" y="34"/>
                    <a:pt x="48" y="32"/>
                    <a:pt x="48" y="56"/>
                  </a:cubicBezTo>
                  <a:cubicBezTo>
                    <a:pt x="48" y="75"/>
                    <a:pt x="35" y="77"/>
                    <a:pt x="23" y="77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1" name="Google Shape;111;p131"/>
            <p:cNvSpPr/>
            <p:nvPr/>
          </p:nvSpPr>
          <p:spPr>
            <a:xfrm>
              <a:off x="13680429" y="9610726"/>
              <a:ext cx="55562" cy="82550"/>
            </a:xfrm>
            <a:custGeom>
              <a:avLst/>
              <a:gdLst/>
              <a:ahLst/>
              <a:cxnLst/>
              <a:rect l="l" t="t" r="r" b="b"/>
              <a:pathLst>
                <a:path w="52" h="75" extrusionOk="0">
                  <a:moveTo>
                    <a:pt x="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46" y="0"/>
                    <a:pt x="50" y="14"/>
                    <a:pt x="50" y="37"/>
                  </a:cubicBezTo>
                  <a:cubicBezTo>
                    <a:pt x="50" y="49"/>
                    <a:pt x="52" y="75"/>
                    <a:pt x="25" y="75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0"/>
                  </a:lnTo>
                  <a:close/>
                  <a:moveTo>
                    <a:pt x="16" y="63"/>
                  </a:moveTo>
                  <a:cubicBezTo>
                    <a:pt x="23" y="63"/>
                    <a:pt x="23" y="63"/>
                    <a:pt x="23" y="63"/>
                  </a:cubicBezTo>
                  <a:cubicBezTo>
                    <a:pt x="32" y="63"/>
                    <a:pt x="34" y="56"/>
                    <a:pt x="34" y="38"/>
                  </a:cubicBezTo>
                  <a:cubicBezTo>
                    <a:pt x="34" y="24"/>
                    <a:pt x="34" y="12"/>
                    <a:pt x="24" y="12"/>
                  </a:cubicBezTo>
                  <a:cubicBezTo>
                    <a:pt x="16" y="12"/>
                    <a:pt x="16" y="12"/>
                    <a:pt x="16" y="12"/>
                  </a:cubicBezTo>
                  <a:lnTo>
                    <a:pt x="16" y="63"/>
                  </a:ln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112;p131"/>
            <p:cNvSpPr/>
            <p:nvPr/>
          </p:nvSpPr>
          <p:spPr>
            <a:xfrm>
              <a:off x="13743929" y="9610726"/>
              <a:ext cx="50800" cy="84138"/>
            </a:xfrm>
            <a:custGeom>
              <a:avLst/>
              <a:gdLst/>
              <a:ahLst/>
              <a:cxnLst/>
              <a:rect l="l" t="t" r="r" b="b"/>
              <a:pathLst>
                <a:path w="48" h="77" extrusionOk="0">
                  <a:moveTo>
                    <a:pt x="23" y="77"/>
                  </a:moveTo>
                  <a:cubicBezTo>
                    <a:pt x="4" y="77"/>
                    <a:pt x="0" y="66"/>
                    <a:pt x="1" y="53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0"/>
                    <a:pt x="17" y="66"/>
                    <a:pt x="25" y="66"/>
                  </a:cubicBezTo>
                  <a:cubicBezTo>
                    <a:pt x="30" y="66"/>
                    <a:pt x="33" y="63"/>
                    <a:pt x="33" y="58"/>
                  </a:cubicBezTo>
                  <a:cubicBezTo>
                    <a:pt x="33" y="44"/>
                    <a:pt x="2" y="43"/>
                    <a:pt x="2" y="21"/>
                  </a:cubicBezTo>
                  <a:cubicBezTo>
                    <a:pt x="2" y="10"/>
                    <a:pt x="7" y="0"/>
                    <a:pt x="26" y="0"/>
                  </a:cubicBezTo>
                  <a:cubicBezTo>
                    <a:pt x="41" y="0"/>
                    <a:pt x="48" y="7"/>
                    <a:pt x="47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17"/>
                    <a:pt x="32" y="11"/>
                    <a:pt x="25" y="11"/>
                  </a:cubicBezTo>
                  <a:cubicBezTo>
                    <a:pt x="20" y="11"/>
                    <a:pt x="17" y="14"/>
                    <a:pt x="17" y="19"/>
                  </a:cubicBezTo>
                  <a:cubicBezTo>
                    <a:pt x="17" y="34"/>
                    <a:pt x="48" y="32"/>
                    <a:pt x="48" y="56"/>
                  </a:cubicBezTo>
                  <a:cubicBezTo>
                    <a:pt x="48" y="75"/>
                    <a:pt x="34" y="77"/>
                    <a:pt x="23" y="77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4">
          <a:extLst>
            <a:ext uri="{FF2B5EF4-FFF2-40B4-BE49-F238E27FC236}">
              <a16:creationId xmlns:a16="http://schemas.microsoft.com/office/drawing/2014/main" id="{7F1C1E09-F3E2-7E93-52F9-3C2CE6DF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5" name="Google Shape;9005;p121">
            <a:extLst>
              <a:ext uri="{FF2B5EF4-FFF2-40B4-BE49-F238E27FC236}">
                <a16:creationId xmlns:a16="http://schemas.microsoft.com/office/drawing/2014/main" id="{09EB7A8F-44A6-7387-5A44-55BAF0450165}"/>
              </a:ext>
            </a:extLst>
          </p:cNvPr>
          <p:cNvSpPr/>
          <p:nvPr/>
        </p:nvSpPr>
        <p:spPr>
          <a:xfrm>
            <a:off x="415925" y="340074"/>
            <a:ext cx="633982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17475" marR="0" lvl="0" indent="-2174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>
                <a:solidFill>
                  <a:srgbClr val="7F7F7F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Ⅲ. 프로젝트 수행계획&gt; 2.조직 및 인력구성</a:t>
            </a:r>
            <a:endParaRPr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9006" name="Google Shape;9006;p121">
            <a:extLst>
              <a:ext uri="{FF2B5EF4-FFF2-40B4-BE49-F238E27FC236}">
                <a16:creationId xmlns:a16="http://schemas.microsoft.com/office/drawing/2014/main" id="{3A9EB60A-CD50-1F06-0C76-D25CFFA021B8}"/>
              </a:ext>
            </a:extLst>
          </p:cNvPr>
          <p:cNvSpPr/>
          <p:nvPr/>
        </p:nvSpPr>
        <p:spPr>
          <a:xfrm>
            <a:off x="415925" y="502778"/>
            <a:ext cx="63398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0" i="0" u="none" strike="noStrike" cap="none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  <a:sym typeface="Arial"/>
              </a:rPr>
              <a:t>2.2 프로젝트 투입 인력 및 이력 사항 (제논)</a:t>
            </a:r>
            <a:endParaRPr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9007" name="Google Shape;9007;p121">
            <a:extLst>
              <a:ext uri="{FF2B5EF4-FFF2-40B4-BE49-F238E27FC236}">
                <a16:creationId xmlns:a16="http://schemas.microsoft.com/office/drawing/2014/main" id="{9EE5889F-02DC-76A7-D0DA-15AD5211E2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4140235"/>
              </p:ext>
            </p:extLst>
          </p:nvPr>
        </p:nvGraphicFramePr>
        <p:xfrm>
          <a:off x="415924" y="875996"/>
          <a:ext cx="9074800" cy="908520"/>
        </p:xfrm>
        <a:graphic>
          <a:graphicData uri="http://schemas.openxmlformats.org/drawingml/2006/table">
            <a:tbl>
              <a:tblPr>
                <a:noFill/>
                <a:tableStyleId>{7C678D28-3A96-469A-945D-981AAE95CC7E}</a:tableStyleId>
              </a:tblPr>
              <a:tblGrid>
                <a:gridCol w="109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8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소속</a:t>
                      </a:r>
                      <a:endParaRPr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0" u="none" strike="noStrike" cap="none" dirty="0" err="1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제논</a:t>
                      </a:r>
                      <a:endParaRPr sz="1100" b="0" u="none" strike="noStrike" cap="none" dirty="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300" marR="62300" marT="67600" marB="676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성명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100" dirty="0" err="1"/>
                        <a:t>이예영</a:t>
                      </a:r>
                      <a:endParaRPr sz="1100" dirty="0"/>
                    </a:p>
                  </a:txBody>
                  <a:tcPr marL="62300" marR="62300" marT="67600" marB="676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직위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ore-KR" altLang="en-US" sz="1100" dirty="0"/>
                        <a:t>프로</a:t>
                      </a:r>
                      <a:endParaRPr sz="1100" dirty="0"/>
                    </a:p>
                  </a:txBody>
                  <a:tcPr marL="62300" marR="62300" marT="67600" marB="676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근무경력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년</a:t>
                      </a:r>
                      <a:r>
                        <a:rPr lang="en-US" altLang="ko-KR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9</a:t>
                      </a:r>
                      <a:r>
                        <a:rPr lang="ko-KR" altLang="en-US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개월</a:t>
                      </a:r>
                      <a:endParaRPr sz="1100" b="0" i="0" u="none" strike="noStrike" cap="none" dirty="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자격증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D4D4D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100" dirty="0"/>
                        <a:t>정보처리기사</a:t>
                      </a:r>
                      <a:endParaRPr sz="1100" dirty="0"/>
                    </a:p>
                  </a:txBody>
                  <a:tcPr marL="62300" marR="62300" marT="67600" marB="676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본 사업 참여기간</a:t>
                      </a:r>
                      <a:endParaRPr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r>
                        <a:rPr lang="ko-KR" altLang="en-US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</a:t>
                      </a:r>
                      <a:r>
                        <a:rPr lang="ko-KR" altLang="en-US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월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 2026</a:t>
                      </a:r>
                      <a:r>
                        <a:rPr lang="ko-KR" altLang="en-US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년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r>
                        <a:rPr lang="ko-KR" altLang="en-US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월</a:t>
                      </a:r>
                      <a:endParaRPr sz="1100" b="0" i="0" u="none" strike="noStrike" cap="none" dirty="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300" marR="62300" marT="67600" marB="676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참여율</a:t>
                      </a:r>
                      <a:endParaRPr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sz="1100" b="0" i="0" u="none" strike="noStrike" cap="none" dirty="0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300" marR="62300" marT="67600" marB="676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008" name="Google Shape;9008;p121">
            <a:extLst>
              <a:ext uri="{FF2B5EF4-FFF2-40B4-BE49-F238E27FC236}">
                <a16:creationId xmlns:a16="http://schemas.microsoft.com/office/drawing/2014/main" id="{D3A09667-12B5-801D-7105-6333F5FA65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0400843"/>
              </p:ext>
            </p:extLst>
          </p:nvPr>
        </p:nvGraphicFramePr>
        <p:xfrm>
          <a:off x="415925" y="1838025"/>
          <a:ext cx="9074875" cy="4033918"/>
        </p:xfrm>
        <a:graphic>
          <a:graphicData uri="http://schemas.openxmlformats.org/drawingml/2006/table">
            <a:tbl>
              <a:tblPr firstRow="1" bandRow="1">
                <a:noFill/>
                <a:tableStyleId>{8CF23A7D-E2E4-4425-A42A-93AF6216BE30}</a:tableStyleId>
              </a:tblPr>
              <a:tblGrid>
                <a:gridCol w="2706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23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b="0" i="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경력사항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ore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b="0" i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사업명</a:t>
                      </a:r>
                      <a:endParaRPr sz="1100" b="0" i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b="0" i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사업개요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b="0" i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참여기간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b="0" i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담당업무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b="0" i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발주처</a:t>
                      </a:r>
                      <a:endParaRPr sz="1100" b="0" i="0" u="none" strike="noStrike" cap="non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1100" b="0" i="0" u="none" strike="noStrike" cap="non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 err="1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GenA</a:t>
                      </a:r>
                      <a:r>
                        <a:rPr lang="en-US" sz="700" b="0" i="0" u="none" strike="noStrike" cap="none" dirty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700" b="0" i="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strike="noStrike" cap="none" dirty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B2C </a:t>
                      </a:r>
                      <a:r>
                        <a:rPr lang="ko-KR" altLang="en-US" sz="700" u="none" strike="noStrike" cap="none" dirty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채팅 어플리케이션 개발</a:t>
                      </a:r>
                      <a:endParaRPr sz="7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맑은 고딕"/>
                          <a:cs typeface="Arial"/>
                          <a:sym typeface="Arial"/>
                        </a:rPr>
                        <a:t>2026.04~2026.05</a:t>
                      </a:r>
                      <a:endParaRPr lang="en-US" altLang="ko-Kore-KR" sz="7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맑은 고딕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00" b="0" dirty="0"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번역 에이전트 개발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  <a:sym typeface="Noto Sans KR"/>
                        </a:rPr>
                        <a:t>제논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  <a:sym typeface="Noto Sans KR"/>
                        </a:rPr>
                        <a:t>(</a:t>
                      </a:r>
                      <a:r>
                        <a:rPr lang="en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  <a:sym typeface="Noto Sans KR"/>
                        </a:rPr>
                        <a:t>Genon)</a:t>
                      </a:r>
                    </a:p>
                    <a:p>
                      <a:pPr algn="ctr" rtl="0" fontAlgn="ctr">
                        <a:buNone/>
                      </a:pPr>
                      <a:endParaRPr lang="ko-KR" altLang="en-US" sz="700" b="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삼성화재 일반보험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AI 2.0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구축</a:t>
                      </a:r>
                    </a:p>
                  </a:txBody>
                  <a:tcPr marL="6191" marR="6191" marT="6191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Arial"/>
                          <a:sym typeface="Arial"/>
                        </a:rPr>
                        <a:t>AI </a:t>
                      </a:r>
                      <a:r>
                        <a:rPr lang="ko-KR" altLang="en-US" sz="70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Arial"/>
                          <a:sym typeface="Arial"/>
                        </a:rPr>
                        <a:t>기반 보험 업무 자동화 </a:t>
                      </a:r>
                      <a:endParaRPr sz="700" u="none" strike="noStrike" cap="none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2025.10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2026.04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LangGraph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기반 보험심사 자동화 워크플로우 개발</a:t>
                      </a:r>
                    </a:p>
                  </a:txBody>
                  <a:tcPr marL="6191" marR="6191" marT="6191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삼성화재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000" u="none" strike="noStrike" cap="none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인도네시아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쁘라따마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나이키 운동화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아웃솔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외관검수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모델 개발</a:t>
                      </a:r>
                    </a:p>
                  </a:txBody>
                  <a:tcPr marL="6191" marR="6191" marT="6191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Arial"/>
                          <a:sym typeface="Arial"/>
                        </a:rPr>
                        <a:t>운동화 하자 검수 자동화를 위한 데이터 레이블링</a:t>
                      </a:r>
                      <a:endParaRPr sz="700" u="none" strike="noStrike" cap="none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.09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2025.10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이미지 데이터 레이블링</a:t>
                      </a:r>
                    </a:p>
                  </a:txBody>
                  <a:tcPr marL="6191" marR="6191" marT="6191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제논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(</a:t>
                      </a: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Genon)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어시스턴트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PoC</a:t>
                      </a:r>
                      <a:endParaRPr lang="ko-KR" altLang="en-US"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7739" marR="7739" marT="7739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u="none" strike="noStrike" cap="none" dirty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채팅 어플리케이션 개발</a:t>
                      </a:r>
                      <a:endParaRPr sz="7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.08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~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Noto Sans KR"/>
                        </a:rPr>
                        <a:t>2025.09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Noto Sans KR"/>
                      </a:endParaRPr>
                    </a:p>
                  </a:txBody>
                  <a:tcPr marL="5139" marR="5139" marT="5139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채팅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App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QA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및 </a:t>
                      </a:r>
                      <a:r>
                        <a:rPr lang="en-US" altLang="ko-KR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VectorDB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수정</a:t>
                      </a:r>
                    </a:p>
                  </a:txBody>
                  <a:tcPr marL="6191" marR="6191" marT="6191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세현</a:t>
                      </a:r>
                      <a:r>
                        <a:rPr lang="en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ICT</a:t>
                      </a:r>
                    </a:p>
                  </a:txBody>
                  <a:tcPr marL="7739" marR="7739" marT="7739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RAG </a:t>
                      </a:r>
                      <a:r>
                        <a:rPr lang="ko-KR" altLang="en-US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챗봇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PoC</a:t>
                      </a:r>
                      <a:endParaRPr lang="ko-KR" altLang="en-US"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7739" marR="7739" marT="7739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u="none" strike="noStrike" cap="none" dirty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RAG</a:t>
                      </a:r>
                      <a:r>
                        <a:rPr lang="ko-KR" altLang="en-US" sz="700" u="none" strike="noStrike" cap="none" dirty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기반 채팅 어플리케이션 개발</a:t>
                      </a:r>
                      <a:endParaRPr sz="7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현대하모니 L"/>
                          <a:ea typeface="현대하모니 L"/>
                          <a:sym typeface="Arial"/>
                        </a:defRPr>
                      </a:lvl9pPr>
                    </a:lstStyle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2025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.08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~ 2025.08</a:t>
                      </a:r>
                      <a:endParaRPr sz="700" b="0" i="0" u="none" strike="noStrike" cap="non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5139" marR="5139" marT="5139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채팅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App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QA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및 </a:t>
                      </a:r>
                      <a:r>
                        <a:rPr lang="en-US" altLang="ko-KR" sz="7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VectorDB</a:t>
                      </a:r>
                      <a:r>
                        <a:rPr lang="en-US" altLang="ko-KR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수정</a:t>
                      </a:r>
                    </a:p>
                  </a:txBody>
                  <a:tcPr marL="6191" marR="6191" marT="6191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한국투자공사</a:t>
                      </a:r>
                    </a:p>
                  </a:txBody>
                  <a:tcPr marL="7739" marR="7739" marT="7739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2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36000" marB="3600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59595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08000" marR="108000" marT="0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408218"/>
      </p:ext>
    </p:extLst>
  </p:cSld>
  <p:clrMapOvr>
    <a:masterClrMapping/>
  </p:clrMapOvr>
</p:sld>
</file>

<file path=ppt/theme/theme1.xml><?xml version="1.0" encoding="utf-8"?>
<a:theme xmlns:a="http://schemas.openxmlformats.org/drawingml/2006/main" name="[고객사] 제안서_목차간지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[고객사] 제안서_본문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[삼성카드] 설명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[고객사] 제안서_목차간지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148</Words>
  <Application>Microsoft Macintosh PowerPoint</Application>
  <PresentationFormat>A4 용지(210x297mm)</PresentationFormat>
  <Paragraphs>48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KoPubWorld돋움체 Light</vt:lpstr>
      <vt:lpstr>Noto Sans KR</vt:lpstr>
      <vt:lpstr>Quattrocento Sans</vt:lpstr>
      <vt:lpstr>Arial</vt:lpstr>
      <vt:lpstr>Malgun Gothic</vt:lpstr>
      <vt:lpstr>Times New Roman</vt:lpstr>
      <vt:lpstr>[고객사] 제안서_목차간지</vt:lpstr>
      <vt:lpstr>[고객사] 제안서_본문</vt:lpstr>
      <vt:lpstr>[삼성카드] 설명회</vt:lpstr>
      <vt:lpstr>1_[고객사] 제안서_목차간지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PMS</dc:creator>
  <cp:lastModifiedBy>이  예영</cp:lastModifiedBy>
  <cp:revision>9</cp:revision>
  <dcterms:created xsi:type="dcterms:W3CDTF">2015-06-16T05:10:28Z</dcterms:created>
  <dcterms:modified xsi:type="dcterms:W3CDTF">2026-04-22T05:19:00Z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7D3356B922E6E9930051F6472E7464E8FF0DA5CF3440EB683A90AE343E3FCE97</vt:lpwstr>
  </property>
  <property fmtid="{D5CDD505-2E9C-101B-9397-08002B2CF9AE}" pid="2" name="NSCPROP">
    <vt:lpwstr>NSCCustomProperty</vt:lpwstr>
  </property>
  <property fmtid="{D5CDD505-2E9C-101B-9397-08002B2CF9AE}" pid="3" name="FLCMData">
    <vt:lpwstr>56F820F33168FCD0511DCA683639F53C4B90F9949EDB381667E3C5A01065FBEF79EDC9D4425820548A04B0165E181D5422808AB0A13978115FCA206A5C16017A</vt:lpwstr>
  </property>
</Properties>
</file>